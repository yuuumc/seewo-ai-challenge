
<file path=[Content_Types].xml><?xml version="1.0" encoding="utf-8"?>
<Types xmlns="http://schemas.openxmlformats.org/package/2006/content-types"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6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Master+xml" PartName="/ppt/slideMasters/slideMaster2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  <Override PartName="/docProps/custom.xml" ContentType="application/vnd.openxmlformats-officedocument.custom-properties+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core.xml" Type="http://schemas.openxmlformats.org/package/2006/relationships/metadata/core-properties"/><Relationship Id="rId3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  <p:sldMasterId id="2147483660" r:id="rId8"/>
  </p:sldMasterIdLst>
  <p:notesMasterIdLst>
    <p:notesMasterId r:id="rId6"/>
  </p:notesMasterIdLst>
  <p:sldIdLst>
    <p:sldId id="256" r:id="rId9"/>
    <p:sldId id="257" r:id="rId10"/>
    <p:sldId id="258" r:id="rId11"/>
    <p:sldId id="259" r:id="rId12"/>
    <p:sldId id="260" r:id="rId13"/>
    <p:sldId id="261" r:id="rId14"/>
    <p:sldId id="262" r:id="rId15"/>
    <p:sldId id="263" r:id="rId16"/>
    <p:sldId id="264" r:id="rId17"/>
    <p:sldId id="265" r:id="rId18"/>
    <p:sldId id="266" r:id="rId19"/>
    <p:sldId id="267" r:id="rId20"/>
    <p:sldId id="268" r:id="rId21"/>
    <p:sldId id="269" r:id="rId22"/>
    <p:sldId id="270" r:id="rId23"/>
    <p:sldId id="271" r:id="rId24"/>
  </p:sldIdLst>
  <p:sldSz cx="12192000" cy="6858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 mar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 marL="457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 marL="914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 marL="1371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 marL="18288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 marL="22860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 marL="27432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 marL="32004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 marL="365760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<Relationships xmlns="http://schemas.openxmlformats.org/package/2006/relationships"><Relationship Id="rId1" Target="theme/theme1.xml" Type="http://schemas.openxmlformats.org/officeDocument/2006/relationships/theme"/><Relationship Id="rId10" Target="slides/slide2.xml" Type="http://schemas.openxmlformats.org/officeDocument/2006/relationships/slide"/><Relationship Id="rId11" Target="slides/slide3.xml" Type="http://schemas.openxmlformats.org/officeDocument/2006/relationships/slide"/><Relationship Id="rId12" Target="slides/slide4.xml" Type="http://schemas.openxmlformats.org/officeDocument/2006/relationships/slide"/><Relationship Id="rId13" Target="slides/slide5.xml" Type="http://schemas.openxmlformats.org/officeDocument/2006/relationships/slide"/><Relationship Id="rId14" Target="slides/slide6.xml" Type="http://schemas.openxmlformats.org/officeDocument/2006/relationships/slide"/><Relationship Id="rId15" Target="slides/slide7.xml" Type="http://schemas.openxmlformats.org/officeDocument/2006/relationships/slide"/><Relationship Id="rId16" Target="slides/slide8.xml" Type="http://schemas.openxmlformats.org/officeDocument/2006/relationships/slide"/><Relationship Id="rId17" Target="slides/slide9.xml" Type="http://schemas.openxmlformats.org/officeDocument/2006/relationships/slide"/><Relationship Id="rId18" Target="slides/slide10.xml" Type="http://schemas.openxmlformats.org/officeDocument/2006/relationships/slide"/><Relationship Id="rId19" Target="slides/slide11.xml" Type="http://schemas.openxmlformats.org/officeDocument/2006/relationships/slide"/><Relationship Id="rId2" Target="viewProps.xml" Type="http://schemas.openxmlformats.org/officeDocument/2006/relationships/viewProps"/><Relationship Id="rId20" Target="slides/slide12.xml" Type="http://schemas.openxmlformats.org/officeDocument/2006/relationships/slide"/><Relationship Id="rId21" Target="slides/slide13.xml" Type="http://schemas.openxmlformats.org/officeDocument/2006/relationships/slide"/><Relationship Id="rId22" Target="slides/slide14.xml" Type="http://schemas.openxmlformats.org/officeDocument/2006/relationships/slide"/><Relationship Id="rId23" Target="slides/slide15.xml" Type="http://schemas.openxmlformats.org/officeDocument/2006/relationships/slide"/><Relationship Id="rId24" Target="slides/slide16.xml" Type="http://schemas.openxmlformats.org/officeDocument/2006/relationships/slide"/><Relationship Id="rId25" Target="notesSlides/notesSlide1.xml" Type="http://schemas.openxmlformats.org/officeDocument/2006/relationships/notesSlide"/><Relationship Id="rId26" Target="notesSlides/notesSlide2.xml" Type="http://schemas.openxmlformats.org/officeDocument/2006/relationships/notesSlide"/><Relationship Id="rId27" Target="notesSlides/notesSlide3.xml" Type="http://schemas.openxmlformats.org/officeDocument/2006/relationships/notesSlide"/><Relationship Id="rId28" Target="notesSlides/notesSlide4.xml" Type="http://schemas.openxmlformats.org/officeDocument/2006/relationships/notesSlide"/><Relationship Id="rId29" Target="notesSlides/notesSlide5.xml" Type="http://schemas.openxmlformats.org/officeDocument/2006/relationships/notesSlide"/><Relationship Id="rId3" Target="presProps.xml" Type="http://schemas.openxmlformats.org/officeDocument/2006/relationships/presProps"/><Relationship Id="rId30" Target="notesSlides/notesSlide6.xml" Type="http://schemas.openxmlformats.org/officeDocument/2006/relationships/notesSlide"/><Relationship Id="rId31" Target="notesSlides/notesSlide7.xml" Type="http://schemas.openxmlformats.org/officeDocument/2006/relationships/notesSlide"/><Relationship Id="rId32" Target="notesSlides/notesSlide8.xml" Type="http://schemas.openxmlformats.org/officeDocument/2006/relationships/notesSlide"/><Relationship Id="rId33" Target="notesSlides/notesSlide9.xml" Type="http://schemas.openxmlformats.org/officeDocument/2006/relationships/notesSlide"/><Relationship Id="rId34" Target="notesSlides/notesSlide10.xml" Type="http://schemas.openxmlformats.org/officeDocument/2006/relationships/notesSlide"/><Relationship Id="rId35" Target="notesSlides/notesSlide11.xml" Type="http://schemas.openxmlformats.org/officeDocument/2006/relationships/notesSlide"/><Relationship Id="rId36" Target="notesSlides/notesSlide12.xml" Type="http://schemas.openxmlformats.org/officeDocument/2006/relationships/notesSlide"/><Relationship Id="rId37" Target="notesSlides/notesSlide13.xml" Type="http://schemas.openxmlformats.org/officeDocument/2006/relationships/notesSlide"/><Relationship Id="rId38" Target="notesSlides/notesSlide14.xml" Type="http://schemas.openxmlformats.org/officeDocument/2006/relationships/notesSlide"/><Relationship Id="rId39" Target="notesSlides/notesSlide15.xml" Type="http://schemas.openxmlformats.org/officeDocument/2006/relationships/notesSlide"/><Relationship Id="rId4" Target="slideMasters/slideMaster1.xml" Type="http://schemas.openxmlformats.org/officeDocument/2006/relationships/slideMaster"/><Relationship Id="rId40" Target="notesSlides/notesSlide16.xml" Type="http://schemas.openxmlformats.org/officeDocument/2006/relationships/notesSlide"/><Relationship Id="rId6" Target="notesMasters/notesMaster1.xml" Type="http://schemas.openxmlformats.org/officeDocument/2006/relationships/notesMaster"/><Relationship Id="rId7" Target="theme/theme2.xml" Type="http://schemas.openxmlformats.org/officeDocument/2006/relationships/theme"/><Relationship Id="rId8" Target="slideMasters/slideMaster2.xml" Type="http://schemas.openxmlformats.org/officeDocument/2006/relationships/slideMaster"/><Relationship Id="rId9" Target="slides/slide1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_rels/notesSlide1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3.xml" Type="http://schemas.openxmlformats.org/officeDocument/2006/relationships/slide"/></Relationships>
</file>

<file path=ppt/notesSlides/_rels/notesSlide1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4.xml" Type="http://schemas.openxmlformats.org/officeDocument/2006/relationships/slide"/></Relationships>
</file>

<file path=ppt/notesSlides/_rels/notesSlide1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5.xml" Type="http://schemas.openxmlformats.org/officeDocument/2006/relationships/slide"/></Relationships>
</file>

<file path=ppt/notesSlides/_rels/notesSlide1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6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各位好，今天非常荣幸为大家介绍希沃智教π——一款致力于让每个学生都被认真对待的AI智能作业批改系统。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各位好，今天我们将从六个维度来深入了解希沃智教π。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首先是痛点洞察，我们会分析当前教育场景下的核心需求；接着是产品方案，明确希沃智教π的定位与价值；第三部分是功能全景，涵盖了教师、学生和教研三端的能力。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随后，我们将探讨生态整合，实现教学评的一体化；第五部分是技术架构，揭秘多Agent智能体系的支撑；最后是商业规划，展望未来的模式与合作。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各位好，这一页我们来深入洞察一下高中数学教学场景下的核心痛点。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看到，对于一位普通的高中数学教师来说，单次作业批改耗时就长达2.5到4小时，面对两个班级近百名学生，这是一个巨大的时间消耗。其中，解答题的批改占比达到了58%，这部分题目因为步骤复杂，不仅最耗时，而且人工批改的反馈往往很难做到精准和个性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时间上的消耗直接导致了反馈的延迟，通常需要1到3天才能反馈给学生，这使得学生错过了纠错的最佳时机。此外，对于教研组长来说，每月的学情统计需要花费8到12小时，完全依赖Excel手工处理，效率低且容易出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虽然现在AI批改技术已经有了一定的发展，但在日常作业场景，特别是针对数学这种需要深度逻辑批改的学科，依然存在着很大的空白。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这一页我们来深入了解一下我们的核心用户画像，我们将其分为三类关键角色：一线教师、教研组长和信息化主任。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首先是一线教师，以张老师为代表。他是产品的直接使用者，面临的最大痛点是批改作业耗时费力，且反馈不及时。他最关心的是能否真正省时、高效，并且系统要简单好用。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其次是教研组长，李组长。他不仅是使用者，更是管理者。他的痛点在于缺乏全局数据，难以统一教学标准。他需要的是数据的宏观视野和标准化的教学管理工具。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最后是信息化主任，王主任。他是采购的决策者，关注的是系统的兼容性、易用性以及能否真正落地产生价值，同时也需要看到实实在在的成功案例来支撑决策。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理解这三类角色的不同需求，是我们产品设计和推广的基础。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各位好，这一页我们来明确一下希沃智教π的产品定位与核心价值。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，希沃智教π的定位非常清晰，它是一款专为K12教师打造的AI作业批改助手，核心功能可以概括为三个“即”：拍照即批改、批改即分析、分析即推送。这不仅是一个工具，更是一个连接教学各环节的智能枢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它的价值不仅仅体现在单一角色上，而是惠及了教学场景中的四方：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对于一线教师，最直接的收益是效率的提升，批改时间减少超过50%，并且能获得步骤级的诊断，不再只是简单的对错判断；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对于教研组长，它提供了全年级的学情数据，让教研活动从“凭感觉”变成“看数据”，精准定位薄弱点；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对于学生，作业反馈变得即时且具体，知道错在哪、为什么错，这对自主学习非常关键；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最后对于学校管理者，它实现了教学质量的量化追踪，让管理决策有据可依。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我们的最终愿景，就是通过技术让“每个学生都被认真对待”。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这一页我们来深入了解系统的核心功能——AI批改引擎。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我们将批改分为两大核心板块：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左侧的客观题全自动批改，这是我们的MVP核心功能。它支持选择题、填空题和判断题的全自动判分，对于学生手写的数字和字母，识别准确率能达到98%以上，单题批改耗时不到3秒，效率极高。同时，它还能灵活处理多空题和等价答案，非常实用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是我们的差异化竞争力所在——解答题步骤级智能分析。它不只是看结果，而是会自动切分学生的答题步骤，一步步进行逻辑验证，并精准分类错误原因。为了保证公平，我们采用了“AI初评+人工复核”的机制。对于那些AI把握不大的结果，系统会自动高亮提醒老师重点复核，确保评分准确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最后需要强调的是，我们的核心定位是“AI辅助而非替代”，老师始终拥有最终的决策权。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这一页我们来深入探讨智教π的核心差异化优势。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左边，这是我们非常熟悉的传统批改模式。对于一道复杂的数学题，老师或系统往往只能给出一个最终的分数，比如这里的4分。学生只知道自己错了，但根本不知道错在了哪里，是概念理解错了？还是计算失误？这种“只看结果”的方式，反馈非常粗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而看右边，这就是智教π带来的“步骤级诊断分析”。它不再是简单的对错二元判断，而是深入到解题的每一个步骤。系统能精准识别出，学生在第二步配方化简时漏写了常数项，这才是导致整道题错误的根本原因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更重要的是，它不仅能定位根因，还能给出针对性的改进建议，比如推送相关的微课和变式题。这就是从“结果评价”到“过程诊断”的升级，也是真正实现个性化精准教学的关键。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各位老师，大家好。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这一页展示的是我们为教师端打造的全流程支持系统。我们深知老师的时间宝贵，因此致力于通过技术手段解决核心痛点。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首先是“作业管理”，从选题到发布，我们提供了非常灵活的工具，支持题库选题和历史作业复用，让作业布置不再繁琐。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核心亮点在于“AI批改工作台”，它能自动识别并批改客观题，对于主观题或模糊的答案，系统会自动标记出来，仅需老师进行少量复核，极大地释放了老师的双手。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在“学情分析”方面，系统不再只是给出一个分数，而是深入到每一道题、每一个知识点，生成直观的热力图，让您一眼就能看出班级的薄弱环节。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最后是“讲评辅助”，系统能根据分析结果，一键生成带有解析和变式题的讲评PPT，真正实现因材施教。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通过这套系统，我们预计能将批改效率提升50%以上，学情分析时间从原来的数小时缩短到20分钟以内，让老师把更多的精力投入到真正的教学和育人上。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这一页我们重点介绍学生端的四大创新体验，这些功能旨在通过AI技术，将传统的被动学习转变为主动成长。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首先是AI错题本，它不同于传统的错题本只记录错误，而是深入分析错误的根本原因，并关联知识链，帮助学生补全知识闭环。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其次是知识树，它将枯燥的知识点列表转化为可视化的树形结构，通过颜色直观展示掌握程度，让学生一眼就能看到自己的知识盲区。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第三是Math Coach，它采用苏格拉底式的辅导方式，不直接给出答案，而是通过追问和引导，培养学生的自主思考和解题能力。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最后是成长报告，它不仅看单次成绩，更关注长期的学习趋势和AI预测，帮助学生和家长更全面地了解学习状态。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各位老师、领导：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这一页我们重点来看教研管理端的核心价值。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我们致力于实现从“经验驱动”到“数据驱动”的转变。这里有三大核心能力：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首先是年级学情仪表盘，它就像一个热力图，帮我们精准定位知识薄弱点，通过横向对比发现班级差异，还能对学生进行智能分层。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其次是教学质量监控，系统能实时追踪批改情况，把批改行为数据化，还能统一标准，让教学评估更公平。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最后是自动生成报告，彻底告别了Excel的繁琐统计，一键就能导出月报、学期报，甚至自动生成续费的论证材料。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大家看底部的数据对比，这是效率的巨大飞跃：以前人工做学情分析，每月要花8到12个小时，现在AI只要20分钟就能搞定，极大地释放了教研生产力。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这一页我们来深入了解希沃的生态整合能力。我们致力于打造“教学评一体化”的完整闭环，覆盖了从备课、授课、作业到学情分析的全链路。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备课环节，依托希沃白板，提供海量资源，让备课更高效；在授课环节，通过智慧黑板实现生动的课堂互动；作业环节，我们的智教π产品利用AI技术实现自动批改和闭环订正；最后通过数据看板进行精准的学情分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优势在于：第一，拥有强大的硬件生态基础，全国超过200万间教室已经装配了希沃设备；第二，统一的账号体系，SSO单点登录，极大地降低了部署和使用成本；第三，实现了真正的数据打通，打破了信息孤岛，形成了完整的教学数据闭环，从而真正做到用数据驱动教学的优化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看竞争格局。大家可以看到，目前市场上的主要玩家如科大讯飞、七天网络等，主要集中在考试阅卷或单一的硬件设备上。而希沃智教π填补了一个巨大的市场空白：它不仅仅是一个批改工具，更是连接了“日常作业、数学深度解析和教研视角”的综合平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从下方的象限图可以清晰看到，希沃智教π牢牢占据了“日常作业+B端学校”这个核心位置，这正是目前教育信息化中最具潜力的蓝海市场，与现有的竞品形成了明显的错位竞争优势。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这一页我们来深入了解MathPilot的技术架构，这是一个典型的多智能体协作系统。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大家看左侧的架构图，我们采用了经典的四层架构设计：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最顶层是接入层，覆盖了教师、学生、教研等全角色的终端入口。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核心层是我们的智能协作平台，这里有一个关键的角色——Teaching Orchestrator，也就是教学智能调度中枢，它负责把复杂的教学任务拆解，分发给不同的Agent去处理，比如OCR识别、数学推理、知识图谱调用等。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再往下是强大的基础模型层，我们不仅有通用的视觉和数学大模型，还引入了RAG检索增强和知识图谱技术，保证了回答的准确性和专业性。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最底层是坚实的数据支撑，包含了业务数据库、向量数据库以及我们海量的题库资源。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右侧展示了这个架构的三个核心优势：首先是动态调度，能根据任务难度灵活分配资源；其次是自主决策，系统会判断置信度，不确定的时候会自动交给老师处理，确保不出错；最后是闭环进化，老师的每一次修正都是在给系统“上课”，让它越来越聪明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这种设计理念，让系统不再是一条死板的流水线，而是一个有机协作的智能网络。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各位好，这一页展示了我们的商业规划路径，主要分为三个关键阶段。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首先是0到6个月的种子期，我们的核心是验证MVP。通过3到5所种子学校的免费合作，我们打磨产品并验证AI批改的准确率，目标是达到90%以上的准确率和70%的教师周活。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接下来是6到18个月的成长期，重点是区域复制。我们将推行SaaS年费制，定价在10到20万每年，并按规模阶梯定价。重点拓展广东和江浙地区，目标是覆盖500所学校，实现ARR 5000万。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最后是18到36个月的扩张期，我们将从数学拓展到全科，构建K12全科批改能力，目标覆盖2000多所学校，成为行业的头部玩家。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我们的定价策略是SaaS年费制，根据学校规模分档，而种子期的免费策略是为了换取宝贵的数据和标杆案例。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各位好，这一页展示了我们产品的发展路线图，从最初的MVP版本到未来的全学科生态平台，分为四个关键阶段。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首先是V1.0 MVP版本，这是我们的首发版本，聚焦于数学学科的核心痛点，提供客观题的全自动批改和解答题的AI步骤级辅助批改，并打通了教师端和学生端，提供基础的学情分析功能。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随后在V1.5阶段，我们将重点转向教研效能的提升，上线教研管理端，提供更直观的学情热力图，并实现变式题的智能推送，帮助老师更高效地备课和教学。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到了V2.0，我们将全面升级学生端的体验，引入苏格拉底式的辅导模式，通过知识树可视化帮助学生构建完整的知识体系，并提供个性化的成长报告和AI预测，强化学习的闭环。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最后，在V3.0阶段，我们将实现全科覆盖，从数学拓展到物理、化学、英语等学科，并与希沃白板等教学工具深度联动，同时提供跨校的数据对标分析，构建起完整的智能教学生态。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这四个阶段环环相扣，每一步都旨在解决真实的教学场景问题，不断提升产品的价值。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false" i="false" u="none" strike="noStrike"/>
            </a:lvl1pPr>
          </a:lstStyle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各位教育界的同仁，今天我们来到了分享的尾声。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正如屏幕上所展示的，我们正在寻找志同道合的伙伴，共同开启智慧教育的新篇章。成为希沃智教π的种子学校，不仅意味着您可以免费使用我们的全功能产品一学年，更意味着我们将深度共创，让产品真正服务于您的教学场景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我们将提供驻校支持，优先响应您的需求，让技术真正落地。同时，我们将与您共同打造标杆案例，让优质的教育实践被更多人看见。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我们的愿景很简单：让每个学生都被认真对待。这不仅是一句口号，更是我们前行的动力。</a:t>
            </a:r>
          </a:p>
          <a:p>
            <a:pPr algn="l" marL="0" indent="0">
              <a:lnSpc>
                <a:spcPct val="100000"/>
              </a:lnSpc>
            </a:pPr>
            <a:r>
              <a:rPr lang="en-US" b="false" i="false" strike="noStrike" u="none" sz="1400">
                <a:solidFill>
                  <a:srgbClr val="000000"/>
                </a:solidFill>
              </a:rPr>
              <a:t>如果您对我们的合作感兴趣，欢迎随时体验在线Demo，下载白皮书深入了解，或者直接联系我们开启合作。让我们携手共创教育的美好未来！谢谢大家！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yes"?><Relationships xmlns="http://schemas.openxmlformats.org/package/2006/relationships"><Relationship Id="rId1" Target="../slideMasters/slideMaster2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idx="1" type="subTitle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idx="1" type="body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idx="1" type="body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idx="2" type="body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idx="1" type="body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Shape 37"/>
          <p:cNvSpPr txBox="1"/>
          <p:nvPr>
            <p:ph idx="2" type="body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idx="3" type="body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Shape 39"/>
          <p:cNvSpPr txBox="1"/>
          <p:nvPr>
            <p:ph idx="4" type="body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idx="2" type="pic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idx="1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indent="-2286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indent="-2286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indent="-2286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indent="-2286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indent="-2286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indent="-2286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idx="1" type="body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排标题与文本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idx="1" type="body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indent="-317500" lvl="2" marL="1371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indent="-317500" lvl="4" marL="22860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indent="-317500" lvl="5" marL="27432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_rels/slideMaster2.xml.rels><?xml version="1.0" encoding="UTF-8" standalone="yes"?><Relationships xmlns="http://schemas.openxmlformats.org/package/2006/relationships"><Relationship Id="rId1" Target="../theme/theme3.xml" Type="http://schemas.openxmlformats.org/officeDocument/2006/relationships/theme"/><Relationship Id="rId2" Target="../slideLayouts/slideLayout12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b="0" i="0" sz="33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idx="1" type="body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Shape 3"/>
          <p:cNvSpPr txBox="1"/>
          <p:nvPr>
            <p:ph idx="10" type="dt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Shape 4"/>
          <p:cNvSpPr txBox="1"/>
          <p:nvPr>
            <p:ph idx="11" type="ftr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Shape 5"/>
          <p:cNvSpPr txBox="1"/>
          <p:nvPr>
            <p:ph idx="12" type="sldNum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默认主题">
    <p:bg>
      <p:bgPr>
        <a:solidFill>
          <a:srgbClr val="FFFFFF">
            <a:alpha val="100000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57483699" r:id="rId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.xml" Type="http://schemas.openxmlformats.org/officeDocument/2006/relationships/notesSlide"/></Relationships>
</file>

<file path=ppt/slides/_rels/slide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2.xml" Type="http://schemas.openxmlformats.org/officeDocument/2006/relationships/notesSlide"/></Relationships>
</file>

<file path=ppt/slides/_rels/slide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3.xml" Type="http://schemas.openxmlformats.org/officeDocument/2006/relationships/notesSlide"/></Relationships>
</file>

<file path=ppt/slides/_rels/slide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4.xml" Type="http://schemas.openxmlformats.org/officeDocument/2006/relationships/notesSlide"/></Relationships>
</file>

<file path=ppt/slides/_rels/slide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5.xml" Type="http://schemas.openxmlformats.org/officeDocument/2006/relationships/notesSlide"/></Relationships>
</file>

<file path=ppt/slides/_rels/slide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png" Type="http://schemas.openxmlformats.org/officeDocument/2006/relationships/image"/><Relationship Id="rId13" Target="../media/image12.svg" Type="http://schemas.openxmlformats.org/officeDocument/2006/relationships/image"/><Relationship Id="rId14" Target="../media/image13.png" Type="http://schemas.openxmlformats.org/officeDocument/2006/relationships/image"/><Relationship Id="rId15" Target="../media/image14.svg" Type="http://schemas.openxmlformats.org/officeDocument/2006/relationships/image"/><Relationship Id="rId16" Target="../media/image15.png" Type="http://schemas.openxmlformats.org/officeDocument/2006/relationships/image"/><Relationship Id="rId17" Target="../media/image16.svg" Type="http://schemas.openxmlformats.org/officeDocument/2006/relationships/image"/><Relationship Id="rId18" Target="../notesSlides/notesSlide6.xml" Type="http://schemas.openxmlformats.org/officeDocument/2006/relationships/notesSlid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Relationship Id="rId6" Target="../media/image5.png" Type="http://schemas.openxmlformats.org/officeDocument/2006/relationships/image"/><Relationship Id="rId7" Target="../media/image6.sv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25.png" Type="http://schemas.openxmlformats.org/officeDocument/2006/relationships/image"/><Relationship Id="rId11" Target="../media/image26.svg" Type="http://schemas.openxmlformats.org/officeDocument/2006/relationships/image"/><Relationship Id="rId12" Target="../notesSlides/notesSlide7.xml" Type="http://schemas.openxmlformats.org/officeDocument/2006/relationships/notesSlide"/><Relationship Id="rId2" Target="../media/image17.png" Type="http://schemas.openxmlformats.org/officeDocument/2006/relationships/image"/><Relationship Id="rId3" Target="../media/image18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Relationship Id="rId6" Target="../media/image21.png" Type="http://schemas.openxmlformats.org/officeDocument/2006/relationships/image"/><Relationship Id="rId7" Target="../media/image22.svg" Type="http://schemas.openxmlformats.org/officeDocument/2006/relationships/image"/><Relationship Id="rId8" Target="../media/image23.png" Type="http://schemas.openxmlformats.org/officeDocument/2006/relationships/image"/><Relationship Id="rId9" Target="../media/image24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8.xml" Type="http://schemas.openxmlformats.org/officeDocument/2006/relationships/notesSlid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29.png" Type="http://schemas.openxmlformats.org/officeDocument/2006/relationships/image"/><Relationship Id="rId5" Target="../media/image30.svg" Type="http://schemas.openxmlformats.org/officeDocument/2006/relationships/image"/><Relationship Id="rId6" Target="../media/image31.png" Type="http://schemas.openxmlformats.org/officeDocument/2006/relationships/image"/><Relationship Id="rId7" Target="../media/image32.svg" Type="http://schemas.openxmlformats.org/officeDocument/2006/relationships/image"/><Relationship Id="rId8" Target="../media/image33.png" Type="http://schemas.openxmlformats.org/officeDocument/2006/relationships/image"/><Relationship Id="rId9" Target="../media/image3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9.xml" Type="http://schemas.openxmlformats.org/officeDocument/2006/relationships/notesSlide"/><Relationship Id="rId2" Target="../media/image35.png" Type="http://schemas.openxmlformats.org/officeDocument/2006/relationships/image"/><Relationship Id="rId3" Target="../media/image36.svg" Type="http://schemas.openxmlformats.org/officeDocument/2006/relationships/image"/><Relationship Id="rId4" Target="../media/image37.png" Type="http://schemas.openxmlformats.org/officeDocument/2006/relationships/image"/><Relationship Id="rId5" Target="../media/image38.svg" Type="http://schemas.openxmlformats.org/officeDocument/2006/relationships/image"/><Relationship Id="rId6" Target="../media/image39.png" Type="http://schemas.openxmlformats.org/officeDocument/2006/relationships/image"/><Relationship Id="rId7" Target="../media/image40.svg" Type="http://schemas.openxmlformats.org/officeDocument/2006/relationships/image"/><Relationship Id="rId8" Target="../media/image41.png" Type="http://schemas.openxmlformats.org/officeDocument/2006/relationships/image"/><Relationship Id="rId9" Target="../media/image42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notesSlides/notesSlide10.xml" Type="http://schemas.openxmlformats.org/officeDocument/2006/relationships/notesSlide"/><Relationship Id="rId2" Target="../media/image43.png" Type="http://schemas.openxmlformats.org/officeDocument/2006/relationships/image"/><Relationship Id="rId3" Target="../media/image44.svg" Type="http://schemas.openxmlformats.org/officeDocument/2006/relationships/image"/><Relationship Id="rId4" Target="../media/image45.png" Type="http://schemas.openxmlformats.org/officeDocument/2006/relationships/image"/><Relationship Id="rId5" Target="../media/image46.svg" Type="http://schemas.openxmlformats.org/officeDocument/2006/relationships/image"/><Relationship Id="rId6" Target="../media/image47.png" Type="http://schemas.openxmlformats.org/officeDocument/2006/relationships/image"/><Relationship Id="rId7" Target="../media/image48.svg" Type="http://schemas.openxmlformats.org/officeDocument/2006/relationships/image"/><Relationship Id="rId8" Target="../media/image49.png" Type="http://schemas.openxmlformats.org/officeDocument/2006/relationships/image"/><Relationship Id="rId9" Target="../media/image50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10" Target="../media/image59.png" Type="http://schemas.openxmlformats.org/officeDocument/2006/relationships/image"/><Relationship Id="rId11" Target="../media/image60.svg" Type="http://schemas.openxmlformats.org/officeDocument/2006/relationships/image"/><Relationship Id="rId12" Target="../media/image61.png" Type="http://schemas.openxmlformats.org/officeDocument/2006/relationships/image"/><Relationship Id="rId13" Target="../media/image62.svg" Type="http://schemas.openxmlformats.org/officeDocument/2006/relationships/image"/><Relationship Id="rId14" Target="../media/image63.png" Type="http://schemas.openxmlformats.org/officeDocument/2006/relationships/image"/><Relationship Id="rId15" Target="../media/image64.svg" Type="http://schemas.openxmlformats.org/officeDocument/2006/relationships/image"/><Relationship Id="rId16" Target="../notesSlides/notesSlide11.xml" Type="http://schemas.openxmlformats.org/officeDocument/2006/relationships/notesSlide"/><Relationship Id="rId2" Target="../media/image51.png" Type="http://schemas.openxmlformats.org/officeDocument/2006/relationships/image"/><Relationship Id="rId3" Target="../media/image52.svg" Type="http://schemas.openxmlformats.org/officeDocument/2006/relationships/image"/><Relationship Id="rId4" Target="../media/image53.png" Type="http://schemas.openxmlformats.org/officeDocument/2006/relationships/image"/><Relationship Id="rId5" Target="../media/image54.svg" Type="http://schemas.openxmlformats.org/officeDocument/2006/relationships/image"/><Relationship Id="rId6" Target="../media/image55.png" Type="http://schemas.openxmlformats.org/officeDocument/2006/relationships/image"/><Relationship Id="rId7" Target="../media/image56.svg" Type="http://schemas.openxmlformats.org/officeDocument/2006/relationships/image"/><Relationship Id="rId8" Target="../media/image57.png" Type="http://schemas.openxmlformats.org/officeDocument/2006/relationships/image"/><Relationship Id="rId9" Target="../media/image58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2.xml" Type="http://schemas.openxmlformats.org/officeDocument/2006/relationships/notesSlide"/></Relationships>
</file>

<file path=ppt/slides/_rels/slide13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65.png" Type="http://schemas.openxmlformats.org/officeDocument/2006/relationships/image"/><Relationship Id="rId3" Target="../media/image66.svg" Type="http://schemas.openxmlformats.org/officeDocument/2006/relationships/image"/><Relationship Id="rId4" Target="../media/image67.png" Type="http://schemas.openxmlformats.org/officeDocument/2006/relationships/image"/><Relationship Id="rId5" Target="../media/image68.svg" Type="http://schemas.openxmlformats.org/officeDocument/2006/relationships/image"/><Relationship Id="rId6" Target="../media/image69.png" Type="http://schemas.openxmlformats.org/officeDocument/2006/relationships/image"/><Relationship Id="rId7" Target="../media/image70.svg" Type="http://schemas.openxmlformats.org/officeDocument/2006/relationships/image"/><Relationship Id="rId8" Target="../notesSlides/notesSlide13.xml" Type="http://schemas.openxmlformats.org/officeDocument/2006/relationships/notesSlide"/></Relationships>
</file>

<file path=ppt/slides/_rels/slide14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4.xml" Type="http://schemas.openxmlformats.org/officeDocument/2006/relationships/notesSlide"/></Relationships>
</file>

<file path=ppt/slides/_rels/slide15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notesSlides/notesSlide15.xml" Type="http://schemas.openxmlformats.org/officeDocument/2006/relationships/notesSlide"/></Relationships>
</file>

<file path=ppt/slides/_rels/slide16.xml.rels><?xml version="1.0" encoding="UTF-8" standalone="yes"?><Relationships xmlns="http://schemas.openxmlformats.org/package/2006/relationships"><Relationship Id="rId1" Target="../slideLayouts/slideLayout12.xml" Type="http://schemas.openxmlformats.org/officeDocument/2006/relationships/slideLayout"/><Relationship Id="rId2" Target="../media/image71.png" Type="http://schemas.openxmlformats.org/officeDocument/2006/relationships/image"/><Relationship Id="rId3" Target="../media/image72.svg" Type="http://schemas.openxmlformats.org/officeDocument/2006/relationships/image"/><Relationship Id="rId4" Target="../media/image73.png" Type="http://schemas.openxmlformats.org/officeDocument/2006/relationships/image"/><Relationship Id="rId5" Target="../media/image74.svg" Type="http://schemas.openxmlformats.org/officeDocument/2006/relationships/image"/><Relationship Id="rId6" Target="../media/image75.png" Type="http://schemas.openxmlformats.org/officeDocument/2006/relationships/image"/><Relationship Id="rId7" Target="../media/image76.svg" Type="http://schemas.openxmlformats.org/officeDocument/2006/relationships/image"/><Relationship Id="rId8" Target="../notesSlides/notesSlide16.xml" Type="http://schemas.openxmlformats.org/officeDocument/2006/relationships/notesSlide"/><Relationship Id="rId9" Target="../media/image7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>
  <p:cSld>
    <p:bg>
      <p:bgPr>
        <a:gradFill rotWithShape="true">
          <a:gsLst>
            <a:gs pos="0">
              <a:srgbClr val="F8FAFC">
                <a:alpha val="100000"/>
              </a:srgbClr>
            </a:gs>
            <a:gs pos="100000">
              <a:srgbClr val="E2E8F0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144000" y="-1524000"/>
            <a:ext cx="4064000" cy="4064000"/>
          </a:xfrm>
          <a:prstGeom prst="ellipse">
            <a:avLst/>
          </a:prstGeom>
          <a:solidFill>
            <a:srgbClr val="14B8A6">
              <a:alpha val="12000"/>
            </a:srgbClr>
          </a:solidFill>
          <a:ln cmpd="sng" cap="flat">
            <a:solidFill>
              <a:srgbClr val="019F8D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270000" y="4572000"/>
            <a:ext cx="3556000" cy="3556000"/>
          </a:xfrm>
          <a:prstGeom prst="ellipse">
            <a:avLst/>
          </a:prstGeom>
          <a:solidFill>
            <a:srgbClr val="0EA5E9">
              <a:alpha val="12000"/>
            </a:srgbClr>
          </a:solidFill>
          <a:ln cmpd="sng" cap="flat">
            <a:solidFill>
              <a:srgbClr val="008FD0">
                <a:alpha val="12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994400" y="3937000"/>
            <a:ext cx="203200" cy="203200"/>
          </a:xfrm>
          <a:prstGeom prst="ellipse">
            <a:avLst/>
          </a:prstGeom>
          <a:solidFill>
            <a:srgbClr val="F97316">
              <a:alpha val="60000"/>
            </a:srgbClr>
          </a:solidFill>
          <a:ln cmpd="sng" cap="flat">
            <a:solidFill>
              <a:srgbClr val="E05C00">
                <a:alpha val="6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524000"/>
            <a:ext cx="12192000" cy="127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6400" spc="200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希沃智教π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0" y="31115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8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AI智能作业批改系统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4572000" y="4254500"/>
            <a:ext cx="3048000" cy="25400"/>
          </a:xfrm>
          <a:prstGeom prst="roundRect">
            <a:avLst>
              <a:gd name="adj" fmla="val 0"/>
            </a:avLst>
          </a:prstGeom>
          <a:solidFill>
            <a:srgbClr val="14B8A6">
              <a:alpha val="2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0" y="482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“每个学生都被认真对待”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636000" y="5969000"/>
            <a:ext cx="330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Seewo AI Grading Pi · 2026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8890000" y="4191000"/>
            <a:ext cx="3302000" cy="2540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0">
                <a:solidFill>
                  <a:srgbClr val="E2E8F0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endParaRPr lang="en-US" sz="1100"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508000" y="508000"/>
            <a:ext cx="5715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目录</a:t>
            </a: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/ CONTENTS</a:t>
            </a:r>
            <a:endParaRPr lang="en-US" sz="1100"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1460500"/>
            <a:ext cx="1016000" cy="254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2133600"/>
            <a:ext cx="50800" cy="698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698500" y="2095500"/>
            <a:ext cx="520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01</a:t>
            </a:r>
            <a:r>
              <a:rPr lang="en-US" b="false" i="false" strike="noStrike" u="none" sz="1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痛点洞察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聚焦教师批改负担，深挖教育场景下的需求缺口与市场机会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3340100"/>
            <a:ext cx="50800" cy="698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" y="3302000"/>
            <a:ext cx="520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02</a:t>
            </a:r>
            <a:r>
              <a:rPr lang="en-US" b="false" i="false" strike="noStrike" u="none" sz="1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产品方案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详解希沃智教π的核心定位，诠释产品带来的教育价值与革新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4546600"/>
            <a:ext cx="50800" cy="698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98500" y="4508500"/>
            <a:ext cx="520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03</a:t>
            </a:r>
            <a:r>
              <a:rPr lang="en-US" b="false" i="false" strike="noStrike" u="none" sz="1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功能全景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覆盖教师、学生、教研三端能力，构建全场景的智能协同体系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223000" y="2133600"/>
            <a:ext cx="50800" cy="698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413500" y="2095500"/>
            <a:ext cx="520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04</a:t>
            </a:r>
            <a:r>
              <a:rPr lang="en-US" b="false" i="false" strike="noStrike" u="none" sz="1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生态整合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打造希沃教学评一体化生态，打通课前、课中、课后全流程闭环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3340100"/>
            <a:ext cx="50800" cy="698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413500" y="3302000"/>
            <a:ext cx="520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05</a:t>
            </a:r>
            <a:r>
              <a:rPr lang="en-US" b="false" i="false" strike="noStrike" u="none" sz="1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依托多Agent智能体系，以分布式智能驱动个性化教育服务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223000" y="4546600"/>
            <a:ext cx="50800" cy="698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13500" y="4508500"/>
            <a:ext cx="5207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20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06</a:t>
            </a:r>
            <a:r>
              <a:rPr lang="en-US" b="false" i="false" strike="noStrike" u="none" sz="1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商业规划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明晰商业模式、发展路线与合作生态，共创可持续增长的未来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60325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400">
                <a:solidFill>
                  <a:srgbClr val="94A3B8">
                    <a:alpha val="80000"/>
                  </a:srgbClr>
                </a:solidFill>
                <a:latin typeface="Noto Sans SC"/>
                <a:ea typeface="Noto Sans SC"/>
                <a:cs typeface="Noto Sans SC"/>
                <a:sym typeface="Noto Sans SC"/>
              </a:rPr>
              <a:t>以科技赋能教育，重塑课堂教学新体验，共建智慧教育生态体系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4B8A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EA5E9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痛点洞察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5240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一位高中数学教师的日常批改困境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2860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94A3B8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12800" y="2476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2.5-4小时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812800" y="33020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单次作业批改耗时，带2个班约100名学生，人工逐题审阅消耗大量备课与休息时间。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223000" y="22860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94A3B8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527800" y="24765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58%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527800" y="33020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解答题批改占比，这类题目步骤多、逻辑复杂，是最耗时环节且人工反馈质量参差不齐。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508000" y="41275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94A3B8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12800" y="4318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1-3天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" y="51435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反馈延迟周期，作业批改与反馈不及时，导致学生错过知识巩固与纠错的最佳黄金窗口。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223000" y="4127500"/>
            <a:ext cx="5461000" cy="1714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  <a:effectLst>
            <a:outerShdw dir="2700000" dist="50800" blurRad="152400" algn="tl" rotWithShape="false">
              <a:srgbClr val="94A3B8">
                <a:alpha val="15000"/>
              </a:srgbClr>
            </a:outerShdw>
          </a:effectLst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527800" y="4318000"/>
            <a:ext cx="482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8-12小时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527800" y="5143500"/>
            <a:ext cx="4826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教研组长月度学情统计，全靠Excel手工汇总与分析，数据颗粒度粗且极易出现统计错误。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508000" y="6045200"/>
            <a:ext cx="50800" cy="4064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85800" y="60198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AI批改技术已被验证，但日常作业场景×数学深度批改仍有空白，传统方式难以支撑规模化因材施教的需求。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用户画像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76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524000" y="1193800"/>
            <a:ext cx="6985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三类核心决策者与使用者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905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159000"/>
            <a:ext cx="762000" cy="762000"/>
          </a:xfrm>
          <a:prstGeom prst="ellipse">
            <a:avLst/>
          </a:prstGeom>
          <a:gradFill rotWithShape="true">
            <a:gsLst>
              <a:gs pos="0">
                <a:srgbClr val="10B981">
                  <a:alpha val="100000"/>
                </a:srgbClr>
              </a:gs>
              <a:gs pos="100000">
                <a:srgbClr val="34D399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23114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张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1651000" y="2222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一线教师</a:t>
            </a: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张老师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762000" y="31115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32岁 · 高中数学 · 教龄8年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执教2个班级，共102名学生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4323" flipH="false" flipV="false">
            <a:off x="7620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762000" y="39370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核心痛点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762000" y="43180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解答题手工批改耗时费力，作业反馈严重延迟；班级学情复杂，只能依靠模糊记忆复盘。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762000" y="51435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核心诉求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762000" y="55245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批改环节省时高效、评分精准客观，系统操作简单易上手，不增加额外工作负担。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4318000" y="1905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4572000" y="2159000"/>
            <a:ext cx="762000" cy="762000"/>
          </a:xfrm>
          <a:prstGeom prst="ellipse">
            <a:avLst/>
          </a:prstGeom>
          <a:gradFill rotWithShape="true">
            <a:gsLst>
              <a:gs pos="0">
                <a:srgbClr val="3B82F6">
                  <a:alpha val="100000"/>
                </a:srgbClr>
              </a:gs>
              <a:gs pos="100000">
                <a:srgbClr val="60A5FA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572000" y="23114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李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5461000" y="2222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教研组长</a:t>
            </a: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李组长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4572000" y="31115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42岁 · 教龄18年 · 学科带头人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兼顾一线教学与全校教研管理</a:t>
            </a:r>
            <a:endParaRPr lang="en-US" sz="1100"/>
          </a:p>
        </p:txBody>
      </p:sp>
      <p:cxnSp>
        <p:nvCxnSpPr>
          <p:cNvPr name="Connector 22" id="22"/>
          <p:cNvCxnSpPr/>
          <p:nvPr/>
        </p:nvCxnSpPr>
        <p:spPr>
          <a:xfrm rot="-14323" flipH="false" flipV="false">
            <a:off x="45720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3" id="23"/>
          <p:cNvSpPr/>
          <p:nvPr/>
        </p:nvSpPr>
        <p:spPr>
          <a:xfrm rot="0" flipH="false" flipV="false">
            <a:off x="4572000" y="39370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核心痛点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4572000" y="43180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缺乏全校学情的全局数据支撑，备课方向难统一；各班级作业批改标准不一致，教学质量难把控。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4572000" y="51435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核心诉求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4572000" y="55245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拥有覆盖全校的学情数据视野，能统一教学质量标准，实现教研资源的高效共享与落地。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8128000" y="1905000"/>
            <a:ext cx="3556000" cy="419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8382000" y="2159000"/>
            <a:ext cx="762000" cy="762000"/>
          </a:xfrm>
          <a:prstGeom prst="ellipse">
            <a:avLst/>
          </a:prstGeom>
          <a:gradFill rotWithShape="true">
            <a:gsLst>
              <a:gs pos="0">
                <a:srgbClr val="F59E0B">
                  <a:alpha val="100000"/>
                </a:srgbClr>
              </a:gs>
              <a:gs pos="100000">
                <a:srgbClr val="FBBF24">
                  <a:alpha val="100000"/>
                </a:srgbClr>
              </a:gs>
            </a:gsLst>
            <a:lin ang="2700000"/>
          </a:gra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8382000" y="2311400"/>
            <a:ext cx="76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王</a:t>
            </a:r>
            <a:endParaRPr lang="en-US" sz="1100"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271000" y="2222500"/>
            <a:ext cx="228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91666"/>
              </a:lnSpc>
              <a:defRPr/>
            </a:pP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信息化主任</a:t>
            </a: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王主任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8382000" y="31115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38岁 · 计算机专业背景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学校采购决策链关键角色</a:t>
            </a:r>
            <a:endParaRPr lang="en-US" sz="1100"/>
          </a:p>
        </p:txBody>
      </p:sp>
      <p:cxnSp>
        <p:nvCxnSpPr>
          <p:cNvPr name="Connector 32" id="32"/>
          <p:cNvCxnSpPr/>
          <p:nvPr/>
        </p:nvCxnSpPr>
        <p:spPr>
          <a:xfrm rot="-14323" flipH="false" flipV="false">
            <a:off x="8382013" y="3803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3" id="33"/>
          <p:cNvSpPr/>
          <p:nvPr/>
        </p:nvSpPr>
        <p:spPr>
          <a:xfrm rot="0" flipH="false" flipV="false">
            <a:off x="8382000" y="39370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核心痛点</a:t>
            </a:r>
            <a:endParaRPr lang="en-US" sz="1100"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8382000" y="4318000"/>
            <a:ext cx="3048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校内系统孤岛严重，数据不通；采购系统使用率低，难以形成教学闭环；续费价值难以量化论证。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382000" y="5143500"/>
            <a:ext cx="3048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核心诉求</a:t>
            </a:r>
            <a:endParaRPr lang="en-US" sz="1100"/>
          </a:p>
        </p:txBody>
      </p:sp>
      <p:sp>
        <p:nvSpPr>
          <p:cNvPr name="AutoShape 36" id="36"/>
          <p:cNvSpPr/>
          <p:nvPr/>
        </p:nvSpPr>
        <p:spPr>
          <a:xfrm rot="0" flipH="false" flipV="false">
            <a:off x="8382000" y="5524500"/>
            <a:ext cx="3048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系统具备高易用性，能与现有平台无缝对接，有清晰可量化的应用成效与成功案例支撑。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产品定位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76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651000"/>
            <a:ext cx="11176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651000"/>
            <a:ext cx="101600" cy="1270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889000" y="1879600"/>
            <a:ext cx="1054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2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希沃智教π是专为K12教师打造的AI作业批改助手——拍照即批改 · 批改即分析 · 分析即推送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3175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3175000"/>
            <a:ext cx="5461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3365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一线教师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" y="3810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批改时间减少50%+，解答题可获得步骤级诊断，学生错题自动归集，大幅释放教学精力以专注辅导。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31750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6223000" y="3175000"/>
            <a:ext cx="5461000" cy="508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6413500" y="33655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教研组长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413500" y="3810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年级学情数据实时可见，精准定位班级共性问题与学生知识薄弱点，以客观数据驱动教研决策优化。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47625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" y="4762500"/>
            <a:ext cx="5461000" cy="508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8500" y="495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F97316"/>
                </a:solidFill>
                <a:latin typeface="Noto Sans SC"/>
                <a:ea typeface="Noto Sans SC"/>
                <a:cs typeface="Noto Sans SC"/>
                <a:sym typeface="Noto Sans SC"/>
              </a:rPr>
              <a:t>学生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98500" y="5397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作业提交后即时获得详细反馈，清晰知晓错因与修正方法，错题自动归档生成专属错题本，高效复习。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4762500"/>
            <a:ext cx="5461000" cy="1460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762500"/>
            <a:ext cx="5461000" cy="50800"/>
          </a:xfrm>
          <a:prstGeom prst="roundRect">
            <a:avLst>
              <a:gd name="adj" fmla="val 0"/>
            </a:avLst>
          </a:prstGeom>
          <a:solidFill>
            <a:srgbClr val="4B5563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413500" y="4953000"/>
            <a:ext cx="508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学校管理者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413500" y="53975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B7280"/>
                </a:solidFill>
                <a:latin typeface="Noto Sans SC"/>
                <a:ea typeface="Noto Sans SC"/>
                <a:cs typeface="Noto Sans SC"/>
                <a:sym typeface="Noto Sans SC"/>
              </a:rPr>
              <a:t>推动教学管理从经验驱动向数据驱动升级，实现全校教学质量的可量化评估与全过程追踪，优化教学资源配置。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0" y="6286500"/>
            <a:ext cx="12192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true" strike="noStrike" u="none" sz="1600">
                <a:solidFill>
                  <a:srgbClr val="9CA3AF"/>
                </a:solidFill>
                <a:latin typeface="Noto Sans SC"/>
                <a:ea typeface="Noto Sans SC"/>
                <a:cs typeface="Noto Sans SC"/>
                <a:sym typeface="Noto Sans SC"/>
              </a:rPr>
              <a:t>每个学生都被认真对待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4B8A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0EA5E9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核心功能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4605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AI批改引擎：客观题全自动 + 解答题智能辅助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286000"/>
            <a:ext cx="5397500" cy="711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11200" y="23876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客观题全自动批改</a:t>
            </a:r>
            <a:endParaRPr lang="en-US" sz="1100"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11200" y="3149600"/>
            <a:ext cx="254000" cy="2540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066800" y="3124200"/>
            <a:ext cx="476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覆盖选择、填空、判断题型，实现毫秒级全自动判分</a:t>
            </a:r>
            <a:endParaRPr lang="en-US" sz="1100"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11200" y="3683000"/>
            <a:ext cx="254000" cy="2540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1066800" y="3657600"/>
            <a:ext cx="476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手写数字与英文字母识别准确率≥98%，抗书写干扰</a:t>
            </a:r>
            <a:endParaRPr lang="en-US" sz="1100"/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11200" y="4216400"/>
            <a:ext cx="254000" cy="2540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1066800" y="4191000"/>
            <a:ext cx="476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单题平均批改耗时≤3秒，支持大规模试卷并发处理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11200" y="4749800"/>
            <a:ext cx="254000" cy="2540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1066800" y="4724400"/>
            <a:ext cx="476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支持多空独立赋分、等价答案智能匹配，适配复杂规则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5397500"/>
            <a:ext cx="5397500" cy="4572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" y="5499100"/>
            <a:ext cx="539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技术成熟 · 系统稳定 · 立即可用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86500" y="2286000"/>
            <a:ext cx="5397500" cy="711200"/>
          </a:xfrm>
          <a:prstGeom prst="roundRect">
            <a:avLst>
              <a:gd name="adj" fmla="val 0"/>
            </a:avLst>
          </a:prstGeom>
          <a:solidFill>
            <a:srgbClr val="0EA5E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489700" y="2387600"/>
            <a:ext cx="4953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解答题步骤级智能分析</a:t>
            </a:r>
            <a:endParaRPr lang="en-US" sz="1100"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489700" y="3149600"/>
            <a:ext cx="254000" cy="2540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6845300" y="3124200"/>
            <a:ext cx="476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自动切分答题步骤，逻辑逐步验证，精准标注错因类型</a:t>
            </a:r>
            <a:endParaRPr lang="en-US" sz="1100"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6489700" y="3683000"/>
            <a:ext cx="254000" cy="2540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6845300" y="3657600"/>
            <a:ext cx="476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“AI初评+人工复核”双保险机制，确保评分公平准确</a:t>
            </a:r>
            <a:endParaRPr lang="en-US" sz="1100"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6489700" y="4216400"/>
            <a:ext cx="254000" cy="2540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6845300" y="4191000"/>
            <a:ext cx="476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关键解题步骤正误判定准确率≥85%，模型持续迭代</a:t>
            </a:r>
            <a:endParaRPr lang="en-US" sz="1100"/>
          </a:p>
        </p:txBody>
      </p:sp>
      <p:pic>
        <p:nvPicPr>
          <p:cNvPr name="Picture 27" id="27"/>
          <p:cNvPicPr>
            <a:picLocks noChangeAspect="true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 rot="0" flipH="false" flipV="false">
            <a:off x="6489700" y="4749800"/>
            <a:ext cx="254000" cy="254000"/>
          </a:xfrm>
          <a:prstGeom prst="rect">
            <a:avLst/>
          </a:prstGeom>
        </p:spPr>
      </p:pic>
      <p:sp>
        <p:nvSpPr>
          <p:cNvPr name="AutoShape 28" id="28"/>
          <p:cNvSpPr/>
          <p:nvPr/>
        </p:nvSpPr>
        <p:spPr>
          <a:xfrm rot="0" flipH="false" flipV="false">
            <a:off x="6845300" y="4724400"/>
            <a:ext cx="47625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低置信度结果自动高亮预警，引导教师重点介入复核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6286500" y="5397500"/>
            <a:ext cx="5397500" cy="457200"/>
          </a:xfrm>
          <a:prstGeom prst="roundRect">
            <a:avLst>
              <a:gd name="adj" fmla="val 0"/>
            </a:avLst>
          </a:prstGeom>
          <a:solidFill>
            <a:srgbClr val="0EA5E9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6286500" y="5499100"/>
            <a:ext cx="53975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0EA5E9"/>
                </a:solidFill>
                <a:latin typeface="Noto Sans SC"/>
                <a:ea typeface="Noto Sans SC"/>
                <a:cs typeface="Noto Sans SC"/>
                <a:sym typeface="Noto Sans SC"/>
              </a:rPr>
              <a:t>差异化竞争力 · 智能评分核心壁垒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08000" y="6096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核心定位：AI始终作为辅助工具而非人工替代，所有AI评分结果均可被教师自由修改或驳回，教师掌握最终发布权。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64748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核心差异化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4605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不止是对/错，而是每一步都看得清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286000"/>
            <a:ext cx="5207000" cy="3238500"/>
          </a:xfrm>
          <a:prstGeom prst="roundRect">
            <a:avLst>
              <a:gd name="adj" fmla="val 0"/>
            </a:avLst>
          </a:prstGeom>
          <a:solidFill>
            <a:srgbClr val="E2E8F0">
              <a:alpha val="40000"/>
            </a:srgbClr>
          </a:solidFill>
          <a:ln w="12700" cmpd="sng" cap="flat">
            <a:solidFill>
              <a:srgbClr val="CBD5E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765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01 传统批改模式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762000" y="3048000"/>
            <a:ext cx="4699000" cy="1079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889000" y="3149600"/>
            <a:ext cx="2159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题目：Q5 函数单调性求解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（高中数学压轴题）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3111500" y="3149600"/>
            <a:ext cx="2286000" cy="952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r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最终得分：4 / 15</a:t>
            </a:r>
            <a:r>
              <a:rPr lang="en-US" b="false" i="false" strike="noStrike" u="none" sz="13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评价：答案错误 ❌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762000" y="4254500"/>
            <a:ext cx="4699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仅给出最终的对错判断与分数，学生无法得知具体错在哪一步，是概念误解还是计算失误，反馈极其粗糙，难以有效订正。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762000" y="5080000"/>
            <a:ext cx="4699000" cy="355600"/>
          </a:xfrm>
          <a:prstGeom prst="roundRect">
            <a:avLst>
              <a:gd name="adj" fmla="val 0"/>
            </a:avLst>
          </a:prstGeom>
          <a:solidFill>
            <a:srgbClr val="EF4444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25500" y="51054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B91C1C"/>
                </a:solidFill>
                <a:latin typeface="Noto Sans SC"/>
                <a:ea typeface="Noto Sans SC"/>
                <a:cs typeface="Noto Sans SC"/>
                <a:sym typeface="Noto Sans SC"/>
              </a:rPr>
              <a:t>🏷️ 二元判断 · 反馈模糊 · 无法归因</a:t>
            </a:r>
            <a:endParaRPr lang="en-US" sz="1100"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892800" y="36830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842000" y="4254500"/>
            <a:ext cx="50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升级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477000" y="2286000"/>
            <a:ext cx="5207000" cy="3238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12700" cmpd="sng" cap="flat">
            <a:solidFill>
              <a:srgbClr val="10B981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731000" y="2476500"/>
            <a:ext cx="4699000" cy="44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02 智教π · 步骤级诊断分析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731000" y="3048000"/>
            <a:ext cx="4699000" cy="4826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0" id="20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832600" y="3187700"/>
            <a:ext cx="203200" cy="203200"/>
          </a:xfrm>
          <a:prstGeom prst="rect">
            <a:avLst/>
          </a:prstGeom>
        </p:spPr>
      </p:pic>
      <p:sp>
        <p:nvSpPr>
          <p:cNvPr name="AutoShape 21" id="21"/>
          <p:cNvSpPr/>
          <p:nvPr/>
        </p:nvSpPr>
        <p:spPr>
          <a:xfrm rot="0" flipH="false" flipV="false">
            <a:off x="7086600" y="3086100"/>
            <a:ext cx="431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步骤① 求导计算：f'(x)=3x²-6ax+3a² → 正确（公式应用无误）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731000" y="3581400"/>
            <a:ext cx="4699000" cy="482600"/>
          </a:xfrm>
          <a:prstGeom prst="roundRect">
            <a:avLst>
              <a:gd name="adj" fmla="val 0"/>
            </a:avLst>
          </a:prstGeom>
          <a:solidFill>
            <a:srgbClr val="EF4444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832600" y="3721100"/>
            <a:ext cx="203200" cy="203200"/>
          </a:xfrm>
          <a:prstGeom prst="rect">
            <a:avLst/>
          </a:prstGeom>
        </p:spPr>
      </p:pic>
      <p:sp>
        <p:nvSpPr>
          <p:cNvPr name="AutoShape 24" id="24"/>
          <p:cNvSpPr/>
          <p:nvPr/>
        </p:nvSpPr>
        <p:spPr>
          <a:xfrm rot="0" flipH="false" flipV="false">
            <a:off x="7086600" y="3619500"/>
            <a:ext cx="431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991B1B"/>
                </a:solidFill>
                <a:latin typeface="Noto Sans SC"/>
                <a:ea typeface="Noto Sans SC"/>
                <a:cs typeface="Noto Sans SC"/>
                <a:sym typeface="Noto Sans SC"/>
              </a:rPr>
              <a:t>步骤② 配方化简：漏写常数项 +a² → 错误（完全平方公式疏漏）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731000" y="4114800"/>
            <a:ext cx="4699000" cy="4826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6" id="26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832600" y="4254500"/>
            <a:ext cx="203200" cy="203200"/>
          </a:xfrm>
          <a:prstGeom prst="rect">
            <a:avLst/>
          </a:prstGeom>
        </p:spPr>
      </p:pic>
      <p:sp>
        <p:nvSpPr>
          <p:cNvPr name="AutoShape 27" id="27"/>
          <p:cNvSpPr/>
          <p:nvPr/>
        </p:nvSpPr>
        <p:spPr>
          <a:xfrm rot="0" flipH="false" flipV="false">
            <a:off x="7086600" y="4152900"/>
            <a:ext cx="431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B45309"/>
                </a:solidFill>
                <a:latin typeface="Noto Sans SC"/>
                <a:ea typeface="Noto Sans SC"/>
                <a:cs typeface="Noto Sans SC"/>
                <a:sym typeface="Noto Sans SC"/>
              </a:rPr>
              <a:t>步骤③ 连锁影响：前序错误导致后续逻辑链断裂，结论无效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6731000" y="4648200"/>
            <a:ext cx="4699000" cy="4826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832600" y="4787900"/>
            <a:ext cx="203200" cy="2032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086600" y="4686300"/>
            <a:ext cx="4318000" cy="482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300">
                <a:solidFill>
                  <a:srgbClr val="1E40AF"/>
                </a:solidFill>
                <a:latin typeface="Noto Sans SC"/>
                <a:ea typeface="Noto Sans SC"/>
                <a:cs typeface="Noto Sans SC"/>
                <a:sym typeface="Noto Sans SC"/>
              </a:rPr>
              <a:t>改进建议：立即推送《完全平方公式》微课 + 3道同类变式题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6731000" y="5080000"/>
            <a:ext cx="4699000" cy="3556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6794500" y="5105400"/>
            <a:ext cx="4572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065F46"/>
                </a:solidFill>
                <a:latin typeface="Noto Sans SC"/>
                <a:ea typeface="Noto Sans SC"/>
                <a:cs typeface="Noto Sans SC"/>
                <a:sym typeface="Noto Sans SC"/>
              </a:rPr>
              <a:t>🏆 精准归因 · 个性推送 · 闭环提分</a:t>
            </a:r>
            <a:endParaRPr lang="en-US" sz="1100"/>
          </a:p>
        </p:txBody>
      </p:sp>
      <p:sp>
        <p:nvSpPr>
          <p:cNvPr name="AutoShape 33" id="33"/>
          <p:cNvSpPr/>
          <p:nvPr/>
        </p:nvSpPr>
        <p:spPr>
          <a:xfrm rot="0" flipH="false" flipV="false">
            <a:off x="508000" y="5905500"/>
            <a:ext cx="11176000" cy="584200"/>
          </a:xfrm>
          <a:prstGeom prst="roundRect">
            <a:avLst>
              <a:gd name="adj" fmla="val 0"/>
            </a:avLst>
          </a:prstGeom>
          <a:solidFill>
            <a:srgbClr val="334155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4" id="34"/>
          <p:cNvSpPr/>
          <p:nvPr/>
        </p:nvSpPr>
        <p:spPr>
          <a:xfrm rot="0" flipH="false" flipV="false">
            <a:off x="635000" y="6007100"/>
            <a:ext cx="1092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核心价值：从“结果评价”转向“过程诊断”，不仅告诉学生“错了”，更教会学生“如何改”，实现真正的个性化精准教学。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2DD4BF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3B82F6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254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教师端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508000" cy="762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1270000" y="1270000"/>
            <a:ext cx="1016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从作业布置到讲评辅助的全流程支持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19685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1968500"/>
            <a:ext cx="76200" cy="1841500"/>
          </a:xfrm>
          <a:prstGeom prst="roundRect">
            <a:avLst>
              <a:gd name="adj" fmla="val 0"/>
            </a:avLst>
          </a:prstGeom>
          <a:solidFill>
            <a:srgbClr val="14B8A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825500" y="2222500"/>
            <a:ext cx="406400" cy="4064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397000" y="2222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作业管理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825500" y="27305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支持灵活创建作业、智能题库选题与历史复用；可按班级精准分发，并支持定时发布，减少人工操作。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223000" y="19685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223000" y="1968500"/>
            <a:ext cx="76200" cy="1841500"/>
          </a:xfrm>
          <a:prstGeom prst="roundRect">
            <a:avLst>
              <a:gd name="adj" fmla="val 0"/>
            </a:avLst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6540500" y="2222500"/>
            <a:ext cx="406400" cy="406400"/>
          </a:xfrm>
          <a:prstGeom prst="rect">
            <a:avLst/>
          </a:prstGeom>
        </p:spPr>
      </p:pic>
      <p:sp>
        <p:nvSpPr>
          <p:cNvPr name="AutoShape 15" id="15"/>
          <p:cNvSpPr/>
          <p:nvPr/>
        </p:nvSpPr>
        <p:spPr>
          <a:xfrm rot="0" flipH="false" flipV="false">
            <a:off x="7112000" y="2222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AI批改工作台</a:t>
            </a:r>
            <a:endParaRPr lang="en-US" sz="1100"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540500" y="27305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实现拍照上传、客观题自动批改；系统自动高亮低置信度答案供人工复核，最后一键发布成绩。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40005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" y="4000500"/>
            <a:ext cx="76200" cy="1841500"/>
          </a:xfrm>
          <a:prstGeom prst="roundRect">
            <a:avLst>
              <a:gd name="adj" fmla="val 0"/>
            </a:avLst>
          </a:prstGeom>
          <a:solidFill>
            <a:srgbClr val="F9731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9" id="1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" y="4254500"/>
            <a:ext cx="406400" cy="406400"/>
          </a:xfrm>
          <a:prstGeom prst="rect">
            <a:avLst/>
          </a:prstGeom>
        </p:spPr>
      </p:pic>
      <p:sp>
        <p:nvSpPr>
          <p:cNvPr name="AutoShape 20" id="20"/>
          <p:cNvSpPr/>
          <p:nvPr/>
        </p:nvSpPr>
        <p:spPr>
          <a:xfrm rot="0" flipH="false" flipV="false">
            <a:off x="1397000" y="4254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学情分析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825500" y="47625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提供班级整体学情概览与逐题分析，生成多维学生画像；自动归集高频错题，生成知识点掌握度热力图。</a:t>
            </a:r>
            <a:endParaRPr lang="en-US" sz="1100"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4000500"/>
            <a:ext cx="5461000" cy="1841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4000500"/>
            <a:ext cx="76200" cy="1841500"/>
          </a:xfrm>
          <a:prstGeom prst="roundRect">
            <a:avLst>
              <a:gd name="adj" fmla="val 0"/>
            </a:avLst>
          </a:prstGeom>
          <a:solidFill>
            <a:srgbClr val="8B5C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6540500" y="4254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7112000" y="4254500"/>
            <a:ext cx="381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讲评辅助</a:t>
            </a:r>
            <a:endParaRPr lang="en-US" sz="1100"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6540500" y="4762500"/>
            <a:ext cx="4953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基于学情数据一键生成讲评PPT；智能推荐同类变式题，提供分层练习建议，实现精准教学。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508000" y="5969000"/>
            <a:ext cx="11176000" cy="584200"/>
          </a:xfrm>
          <a:prstGeom prst="roundRect">
            <a:avLst>
              <a:gd name="adj" fmla="val 0"/>
            </a:avLst>
          </a:prstGeom>
          <a:solidFill>
            <a:srgbClr val="14B8A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508000" y="6070600"/>
            <a:ext cx="11176000" cy="584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批改效率提升 50%+ | 学情分析从8小时缩短至20分钟 | 教师可专注教学而非机械劳动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5E6AD2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381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508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524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AI重构学习体验：从被动接收到主动成长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286000"/>
            <a:ext cx="273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08000" y="2286000"/>
            <a:ext cx="2730500" cy="508000"/>
          </a:xfrm>
          <a:prstGeom prst="roundRect">
            <a:avLst>
              <a:gd name="adj" fmla="val 0"/>
            </a:avLst>
          </a:prstGeom>
          <a:solidFill>
            <a:srgbClr val="5E6AD2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2286000"/>
            <a:ext cx="273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不止是传统错题本</a:t>
            </a:r>
            <a:endParaRPr lang="en-US" sz="1100"/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698500" y="2984500"/>
            <a:ext cx="406400" cy="406400"/>
          </a:xfrm>
          <a:prstGeom prst="rect">
            <a:avLst/>
          </a:prstGeom>
        </p:spPr>
      </p:pic>
      <p:sp>
        <p:nvSpPr>
          <p:cNvPr name="AutoShape 11" id="11"/>
          <p:cNvSpPr/>
          <p:nvPr/>
        </p:nvSpPr>
        <p:spPr>
          <a:xfrm rot="0" flipH="false" flipV="false">
            <a:off x="1206500" y="3022600"/>
            <a:ext cx="196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根因分析 + 知识链</a:t>
            </a:r>
            <a:endParaRPr lang="en-US" sz="1100"/>
          </a:p>
        </p:txBody>
      </p:sp>
      <p:cxnSp>
        <p:nvCxnSpPr>
          <p:cNvPr name="Connector 12" id="12"/>
          <p:cNvCxnSpPr/>
          <p:nvPr/>
        </p:nvCxnSpPr>
        <p:spPr>
          <a:xfrm rot="-18582" flipH="false" flipV="false">
            <a:off x="698517" y="3613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3" id="13"/>
          <p:cNvSpPr/>
          <p:nvPr/>
        </p:nvSpPr>
        <p:spPr>
          <a:xfrm rot="0" flipH="false" flipV="false">
            <a:off x="698500" y="3810000"/>
            <a:ext cx="23495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不只记录错误结果，更智能解析“为什么错”，精准定位知识链断点。自动关联前置基础与后置延伸知识点，构建完整的知识闭环，让错题成为提分的精准抓手。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365500" y="2286000"/>
            <a:ext cx="273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365500" y="2286000"/>
            <a:ext cx="2730500" cy="5080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3365500" y="2286000"/>
            <a:ext cx="273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不止是知识点列表</a:t>
            </a:r>
            <a:endParaRPr lang="en-US" sz="1100"/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556000" y="2984500"/>
            <a:ext cx="406400" cy="4064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4064000" y="3022600"/>
            <a:ext cx="196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树形可视化掌握度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18582" flipH="false" flipV="false">
            <a:off x="3556017" y="3613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3556000" y="3810000"/>
            <a:ext cx="23495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以递归树形结构呈现知识体系，红黄绿三色直观标记掌握状态。支持点击下钻查看薄弱分支，一眼识别知识盲区，让复习重点清晰可见，告别盲目刷题。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6223000" y="2286000"/>
            <a:ext cx="273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6223000" y="2286000"/>
            <a:ext cx="2730500" cy="508000"/>
          </a:xfrm>
          <a:prstGeom prst="roundRect">
            <a:avLst>
              <a:gd name="adj" fmla="val 0"/>
            </a:avLst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23000" y="2286000"/>
            <a:ext cx="273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不止是AI聊天机器人</a:t>
            </a:r>
            <a:endParaRPr lang="en-US" sz="1100"/>
          </a:p>
        </p:txBody>
      </p:sp>
      <p:pic>
        <p:nvPicPr>
          <p:cNvPr name="Picture 24" id="24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413500" y="2984500"/>
            <a:ext cx="406400" cy="406400"/>
          </a:xfrm>
          <a:prstGeom prst="rect">
            <a:avLst/>
          </a:prstGeom>
        </p:spPr>
      </p:pic>
      <p:sp>
        <p:nvSpPr>
          <p:cNvPr name="AutoShape 25" id="25"/>
          <p:cNvSpPr/>
          <p:nvPr/>
        </p:nvSpPr>
        <p:spPr>
          <a:xfrm rot="0" flipH="false" flipV="false">
            <a:off x="6921500" y="3022600"/>
            <a:ext cx="196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苏格拉底式辅导</a:t>
            </a:r>
            <a:endParaRPr lang="en-US" sz="1100"/>
          </a:p>
        </p:txBody>
      </p:sp>
      <p:cxnSp>
        <p:nvCxnSpPr>
          <p:cNvPr name="Connector 26" id="26"/>
          <p:cNvCxnSpPr/>
          <p:nvPr/>
        </p:nvCxnSpPr>
        <p:spPr>
          <a:xfrm rot="-18582" flipH="false" flipV="false">
            <a:off x="6413517" y="3613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7" id="27"/>
          <p:cNvSpPr/>
          <p:nvPr/>
        </p:nvSpPr>
        <p:spPr>
          <a:xfrm rot="0" flipH="false" flipV="false">
            <a:off x="6413500" y="3810000"/>
            <a:ext cx="23495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拒绝直接给出答案，通过层层追问与引导式提示，激发学生自主思考。模拟苏格拉底式对话，培养逻辑推理与独立解题思维，让学生真正掌握解题方法。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9080500" y="2286000"/>
            <a:ext cx="27305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080500" y="2286000"/>
            <a:ext cx="2730500" cy="508000"/>
          </a:xfrm>
          <a:prstGeom prst="roundRect">
            <a:avLst>
              <a:gd name="adj" fmla="val 0"/>
            </a:avLst>
          </a:prstGeom>
          <a:solidFill>
            <a:srgbClr val="EC489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080500" y="2286000"/>
            <a:ext cx="27305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不止是成绩单</a:t>
            </a:r>
            <a:endParaRPr lang="en-US" sz="1100"/>
          </a:p>
        </p:txBody>
      </p:sp>
      <p:pic>
        <p:nvPicPr>
          <p:cNvPr name="Picture 31" id="3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271000" y="2984500"/>
            <a:ext cx="406400" cy="406400"/>
          </a:xfrm>
          <a:prstGeom prst="rect">
            <a:avLst/>
          </a:prstGeom>
        </p:spPr>
      </p:pic>
      <p:sp>
        <p:nvSpPr>
          <p:cNvPr name="AutoShape 32" id="32"/>
          <p:cNvSpPr/>
          <p:nvPr/>
        </p:nvSpPr>
        <p:spPr>
          <a:xfrm rot="0" flipH="false" flipV="false">
            <a:off x="9779000" y="3022600"/>
            <a:ext cx="19685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趋势追踪 + AI预测</a:t>
            </a:r>
            <a:endParaRPr lang="en-US" sz="1100"/>
          </a:p>
        </p:txBody>
      </p:sp>
      <p:cxnSp>
        <p:nvCxnSpPr>
          <p:cNvPr name="Connector 33" id="33"/>
          <p:cNvCxnSpPr/>
          <p:nvPr/>
        </p:nvCxnSpPr>
        <p:spPr>
          <a:xfrm rot="-18582" flipH="false" flipV="false">
            <a:off x="9271017" y="3613150"/>
            <a:ext cx="2349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34" id="34"/>
          <p:cNvSpPr/>
          <p:nvPr/>
        </p:nvSpPr>
        <p:spPr>
          <a:xfrm rot="0" flipH="false" flipV="false">
            <a:off x="9271000" y="3810000"/>
            <a:ext cx="2349500" cy="203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718096"/>
                </a:solidFill>
                <a:latin typeface="Noto Sans SC"/>
                <a:ea typeface="Noto Sans SC"/>
                <a:cs typeface="Noto Sans SC"/>
                <a:sym typeface="Noto Sans SC"/>
              </a:rPr>
              <a:t>跳出单次分数的片面评价，聚焦学习轨迹的长期变化。AI智能预测未来学习趋势，生成强弱项标签画像，为个性化学习路径提供科学的数据支撑。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508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教研管理端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762000" cy="76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4605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让教研从经验驱动走向数据驱动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159000"/>
            <a:ext cx="3556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762000" y="2413000"/>
            <a:ext cx="609600" cy="609600"/>
          </a:xfrm>
          <a:prstGeom prst="ellipse">
            <a:avLst/>
          </a:prstGeom>
          <a:solidFill>
            <a:srgbClr val="3B82F6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914400" y="25654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1524000" y="2514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年级学情仪表盘</a:t>
            </a:r>
            <a:endParaRPr lang="en-US" sz="1100"/>
          </a:p>
        </p:txBody>
      </p:sp>
      <p:cxnSp>
        <p:nvCxnSpPr>
          <p:cNvPr name="Connector 11" id="11"/>
          <p:cNvCxnSpPr/>
          <p:nvPr/>
        </p:nvCxnSpPr>
        <p:spPr>
          <a:xfrm rot="-14323" flipH="false" flipV="false">
            <a:off x="7620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2" id="12"/>
          <p:cNvSpPr/>
          <p:nvPr/>
        </p:nvSpPr>
        <p:spPr>
          <a:xfrm rot="0" flipH="false" flipV="false">
            <a:off x="762000" y="3365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生成知识点热力图，精准定位薄弱环节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支持多班级横向对比，快速发现教学差异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智能聚类学生分层，辅助实施个性化教学</a:t>
            </a:r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318000" y="2159000"/>
            <a:ext cx="3556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4572000" y="2413000"/>
            <a:ext cx="609600" cy="609600"/>
          </a:xfrm>
          <a:prstGeom prst="ellipse">
            <a:avLst/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724400" y="2565400"/>
            <a:ext cx="304800" cy="3048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5334000" y="2514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教学质量监控</a:t>
            </a:r>
            <a:endParaRPr lang="en-US" sz="1100"/>
          </a:p>
        </p:txBody>
      </p:sp>
      <p:cxnSp>
        <p:nvCxnSpPr>
          <p:cNvPr name="Connector 17" id="17"/>
          <p:cNvCxnSpPr/>
          <p:nvPr/>
        </p:nvCxnSpPr>
        <p:spPr>
          <a:xfrm rot="-14323" flipH="false" flipV="false">
            <a:off x="45720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8" id="18"/>
          <p:cNvSpPr/>
          <p:nvPr/>
        </p:nvSpPr>
        <p:spPr>
          <a:xfrm rot="0" flipH="false" flipV="false">
            <a:off x="4572000" y="3365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实时追踪作业批改进度，异常情况自动预警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量化分析教师批改行为，沉淀教学数据资产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统一标准化批改标准，保障教学评估公平性</a:t>
            </a:r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8128000" y="2159000"/>
            <a:ext cx="3556000" cy="28575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8382000" y="2413000"/>
            <a:ext cx="609600" cy="6096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534400" y="25654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144000" y="2514600"/>
            <a:ext cx="2413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2000">
                <a:solidFill>
                  <a:srgbClr val="1E293B"/>
                </a:solidFill>
                <a:latin typeface="Noto Sans SC"/>
                <a:ea typeface="Noto Sans SC"/>
                <a:cs typeface="Noto Sans SC"/>
                <a:sym typeface="Noto Sans SC"/>
              </a:rPr>
              <a:t>数据报告自动生成</a:t>
            </a:r>
            <a:endParaRPr lang="en-US" sz="1100"/>
          </a:p>
        </p:txBody>
      </p:sp>
      <p:cxnSp>
        <p:nvCxnSpPr>
          <p:cNvPr name="Connector 23" id="23"/>
          <p:cNvCxnSpPr/>
          <p:nvPr/>
        </p:nvCxnSpPr>
        <p:spPr>
          <a:xfrm rot="-14323" flipH="false" flipV="false">
            <a:off x="8382013" y="3168650"/>
            <a:ext cx="304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4" id="24"/>
          <p:cNvSpPr/>
          <p:nvPr/>
        </p:nvSpPr>
        <p:spPr>
          <a:xfrm rot="0" flipH="false" flipV="false">
            <a:off x="8382000" y="3365500"/>
            <a:ext cx="3048000" cy="152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月度/学期质量分析报告，支持一键导出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告别繁琐Excel手工统计，释放教研生产力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自动生成续费论证材料，多维度数据下钻</a:t>
            </a:r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508000" y="5397500"/>
            <a:ext cx="11176000" cy="1079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762000" y="5651500"/>
            <a:ext cx="3302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0F766E"/>
                </a:solidFill>
                <a:latin typeface="Noto Sans SC"/>
                <a:ea typeface="Noto Sans SC"/>
                <a:cs typeface="Noto Sans SC"/>
                <a:sym typeface="Noto Sans SC"/>
              </a:rPr>
              <a:t>⚡ 学情分析效率跃升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5337502" flipH="false" flipV="false">
            <a:off x="3841750" y="5930958"/>
            <a:ext cx="6985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64748B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4445000" y="5613400"/>
            <a:ext cx="3048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传统人工统计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耗时：8-12 小时 / 每月</a:t>
            </a:r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7683500" y="5778500"/>
            <a:ext cx="304800" cy="3048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8191500" y="56134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AI 智能生成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25000"/>
              </a:lnSpc>
            </a:pPr>
            <a:r>
              <a:rPr lang="en-US" b="true" i="false" strike="noStrike" u="none" sz="22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仅需 20 分钟</a:t>
            </a: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/ 每月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生态整合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397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教学评一体化：打通备课 → 授课 → 作业 → 学情全链路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381000" y="2159000"/>
            <a:ext cx="11430000" cy="21590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571500" y="2286000"/>
            <a:ext cx="2603500" cy="1905000"/>
          </a:xfrm>
          <a:prstGeom prst="roundRect">
            <a:avLst>
              <a:gd name="adj" fmla="val 0"/>
            </a:avLst>
          </a:prstGeom>
          <a:solidFill>
            <a:srgbClr val="FFFFFF">
              <a:alpha val="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9" id="9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571500" y="2413000"/>
            <a:ext cx="304800" cy="304800"/>
          </a:xfrm>
          <a:prstGeom prst="rect">
            <a:avLst/>
          </a:prstGeom>
        </p:spPr>
      </p:pic>
      <p:sp>
        <p:nvSpPr>
          <p:cNvPr name="AutoShape 10" id="10"/>
          <p:cNvSpPr/>
          <p:nvPr/>
        </p:nvSpPr>
        <p:spPr>
          <a:xfrm rot="0" flipH="false" flipV="false">
            <a:off x="952500" y="2387600"/>
            <a:ext cx="215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 智能备课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71500" y="2921000"/>
            <a:ext cx="2603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产品：希沃白板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提供海量课件模板与题库，支持快速选题与个性化课件制作，大幅缩短备课时间。</a:t>
            </a:r>
          </a:p>
        </p:txBody>
      </p:sp>
      <p:cxnSp>
        <p:nvCxnSpPr>
          <p:cNvPr name="Connector 12" id="12"/>
          <p:cNvCxnSpPr/>
          <p:nvPr/>
        </p:nvCxnSpPr>
        <p:spPr>
          <a:xfrm rot="5373556" flipH="false" flipV="false">
            <a:off x="2451100" y="3232174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3" id="13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3403600" y="2413000"/>
            <a:ext cx="304800" cy="304800"/>
          </a:xfrm>
          <a:prstGeom prst="rect">
            <a:avLst/>
          </a:prstGeom>
        </p:spPr>
      </p:pic>
      <p:sp>
        <p:nvSpPr>
          <p:cNvPr name="AutoShape 14" id="14"/>
          <p:cNvSpPr/>
          <p:nvPr/>
        </p:nvSpPr>
        <p:spPr>
          <a:xfrm rot="0" flipH="false" flipV="false">
            <a:off x="3784600" y="2387600"/>
            <a:ext cx="215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 互动授课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3403600" y="2921000"/>
            <a:ext cx="2603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产品：智慧黑板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搭载触控交互与多屏互动技术，支持课堂游戏化答题与小组竞赛，提升课堂活跃度。</a:t>
            </a:r>
          </a:p>
        </p:txBody>
      </p:sp>
      <p:cxnSp>
        <p:nvCxnSpPr>
          <p:cNvPr name="Connector 16" id="16"/>
          <p:cNvCxnSpPr/>
          <p:nvPr/>
        </p:nvCxnSpPr>
        <p:spPr>
          <a:xfrm rot="5373556" flipH="false" flipV="false">
            <a:off x="5283200" y="3232174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17" id="17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6235700" y="2413000"/>
            <a:ext cx="304800" cy="304800"/>
          </a:xfrm>
          <a:prstGeom prst="rect">
            <a:avLst/>
          </a:prstGeom>
        </p:spPr>
      </p:pic>
      <p:sp>
        <p:nvSpPr>
          <p:cNvPr name="AutoShape 18" id="18"/>
          <p:cNvSpPr/>
          <p:nvPr/>
        </p:nvSpPr>
        <p:spPr>
          <a:xfrm rot="0" flipH="false" flipV="false">
            <a:off x="6616700" y="2387600"/>
            <a:ext cx="215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 作业闭环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235700" y="2921000"/>
            <a:ext cx="2603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产品：智教π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AI自动批改作业，智能生成错题本与解析，实现练习、订正、巩固的完整闭环。</a:t>
            </a:r>
          </a:p>
        </p:txBody>
      </p:sp>
      <p:cxnSp>
        <p:nvCxnSpPr>
          <p:cNvPr name="Connector 20" id="20"/>
          <p:cNvCxnSpPr/>
          <p:nvPr/>
        </p:nvCxnSpPr>
        <p:spPr>
          <a:xfrm rot="5373556" flipH="false" flipV="false">
            <a:off x="8115300" y="3232174"/>
            <a:ext cx="1651000" cy="12700"/>
          </a:xfrm>
          <a:prstGeom prst="line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dash"/>
            <a:round/>
            <a:headEnd type="none" w="med" len="med"/>
            <a:tailEnd type="none" w="med" len="med"/>
          </a:ln>
        </p:spPr>
      </p:cxnSp>
      <p:pic>
        <p:nvPicPr>
          <p:cNvPr name="Picture 21" id="21"/>
          <p:cNvPicPr>
            <a:picLocks noChangeAspect="true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 rot="0" flipH="false" flipV="false">
            <a:off x="9067800" y="2413000"/>
            <a:ext cx="304800" cy="3048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9448800" y="2387600"/>
            <a:ext cx="2159000" cy="3556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04 学情分析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9067800" y="2921000"/>
            <a:ext cx="2603500" cy="1143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3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产品：数据看板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</a:pPr>
            <a:r>
              <a:rPr lang="en-US" b="false" i="false" strike="noStrike" u="none" sz="1200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多维度可视化报表，精准定位学生知识薄弱点，为教学决策提供数据支撑。</a:t>
            </a:r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508000" y="5016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 rot="0" flipH="false" flipV="false">
            <a:off x="698500" y="5207000"/>
            <a:ext cx="355600" cy="3556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1143000" y="5207000"/>
            <a:ext cx="2984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硬件生态卡位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698500" y="56515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全国超200万间教室已装配希沃智能设备，拥有深厚的校园硬件基础，实现软硬一体的深度融合。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4254500" y="5016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 rot="0" flipH="false" flipV="false">
            <a:off x="4445000" y="5207000"/>
            <a:ext cx="355600" cy="3556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4889500" y="5207000"/>
            <a:ext cx="2984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统一账号体系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4445000" y="56515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支持SSO单点登录，实现多产品无缝切换与数据同步，零额外部署成本，快速落地。</a:t>
            </a:r>
            <a:endParaRPr lang="en-US" sz="1100"/>
          </a:p>
        </p:txBody>
      </p:sp>
      <p:sp>
        <p:nvSpPr>
          <p:cNvPr name="AutoShape 32" id="32"/>
          <p:cNvSpPr/>
          <p:nvPr/>
        </p:nvSpPr>
        <p:spPr>
          <a:xfrm rot="0" flipH="false" flipV="false">
            <a:off x="8001000" y="5016500"/>
            <a:ext cx="3683000" cy="14605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 rot="0" flipH="false" flipV="false">
            <a:off x="8191500" y="5207000"/>
            <a:ext cx="355600" cy="355600"/>
          </a:xfrm>
          <a:prstGeom prst="rect">
            <a:avLst/>
          </a:prstGeom>
        </p:spPr>
      </p:pic>
      <p:sp>
        <p:nvSpPr>
          <p:cNvPr name="AutoShape 34" id="34"/>
          <p:cNvSpPr/>
          <p:nvPr/>
        </p:nvSpPr>
        <p:spPr>
          <a:xfrm rot="0" flipH="false" flipV="false">
            <a:off x="8636000" y="5207000"/>
            <a:ext cx="2984500" cy="330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全链路数据闭环</a:t>
            </a:r>
            <a:endParaRPr lang="en-US" sz="1100"/>
          </a:p>
        </p:txBody>
      </p:sp>
      <p:sp>
        <p:nvSpPr>
          <p:cNvPr name="AutoShape 35" id="35"/>
          <p:cNvSpPr/>
          <p:nvPr/>
        </p:nvSpPr>
        <p:spPr>
          <a:xfrm rot="0" flipH="false" flipV="false">
            <a:off x="8191500" y="5651500"/>
            <a:ext cx="330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打破信息孤岛，打通课前、课中、课后全场景数据，实现“以数据驱动教学优化”的良性循环。</a:t>
            </a:r>
            <a:endParaRPr lang="en-US" sz="1100"/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1016000" y="5080000"/>
            <a:ext cx="2540000" cy="2540000"/>
          </a:xfrm>
          <a:prstGeom prst="ellipse">
            <a:avLst/>
          </a:prstGeom>
          <a:solidFill>
            <a:srgbClr val="F59E0B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竞争格局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4605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日常作业 × 数学深度 × 教研视角 = 市场空白</a:t>
            </a:r>
            <a:endParaRPr lang="en-US" sz="1100"/>
          </a:p>
        </p:txBody>
      </p:sp>
      <p:graphicFrame>
        <p:nvGraphicFramePr>
          <p:cNvPr name="Table 7" id="7"/>
          <p:cNvGraphicFramePr>
            <a:graphicFrameLocks noGrp="true"/>
          </p:cNvGraphicFramePr>
          <p:nvPr/>
        </p:nvGraphicFramePr>
        <p:xfrm>
          <a:off x="508000" y="2095500"/>
          <a:ext cx="11176000" cy="18796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1905000"/>
                <a:gridCol w="2159000"/>
                <a:gridCol w="2159000"/>
                <a:gridCol w="2159000"/>
                <a:gridCol w="2794000"/>
              </a:tblGrid>
              <a:tr h="5080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核心维度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556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科大讯飞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556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七天网络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556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FFFFFF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希沃飞象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475569">
                        <a:alpha val="10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400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希沃智教π (标杆)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20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产品定位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硬件学习机/一体机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考试阅卷SaaS系统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专注作文智能批改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日常作业全科智能批改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8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数学解答题能力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⭐⭐⭐ 基础识别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⭐⭐⭐ 结果判断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94A3B8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⭐ 不支持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F59E0B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⭐⭐⭐⭐ 步骤级解析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8000"/>
                      </a:srgbClr>
                    </a:solidFill>
                  </a:tcPr>
                </a:tc>
              </a:tr>
              <a:tr h="457200"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334155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学情分析深度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E2E8F0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侧重个体学情报告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侧重年级/班级排名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false" i="false" strike="noStrike" u="none" sz="1300">
                          <a:solidFill>
                            <a:srgbClr val="475569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仅作文维度分析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>
                        <a:alpha val="50000"/>
                      </a:srgbClr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 marL="0" indent="0">
                        <a:lnSpc>
                          <a:spcPct val="100000"/>
                        </a:lnSpc>
                        <a:defRPr/>
                      </a:pPr>
                      <a:r>
                        <a:rPr lang="en-US" b="true" i="false" strike="noStrike" u="none" sz="1300">
                          <a:solidFill>
                            <a:srgbClr val="10B981"/>
                          </a:solidFill>
                          <a:latin typeface="Noto Sans SC"/>
                          <a:ea typeface="Noto Sans SC"/>
                          <a:cs typeface="Noto Sans SC"/>
                          <a:sym typeface="Noto Sans SC"/>
                        </a:rPr>
                        <a:t>教研端-题组归因分析</a:t>
                      </a:r>
                      <a:endParaRPr lang="en-US" sz="1100"/>
                    </a:p>
                  </a:txBody>
                  <a:tcPr anchor="ctr" anchorCtr="false" marL="101600" marR="101600" marT="101600" marB="1016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10B981">
                        <a:alpha val="8000"/>
                      </a:srgbClr>
                    </a:solidFill>
                  </a:tcPr>
                </a:tc>
              </a:tr>
            </a:tbl>
          </a:graphicData>
        </a:graphic>
      </p:graphicFrame>
      <p:sp>
        <p:nvSpPr>
          <p:cNvPr name="AutoShape 8" id="8"/>
          <p:cNvSpPr/>
          <p:nvPr/>
        </p:nvSpPr>
        <p:spPr>
          <a:xfrm rot="0" flipH="false" flipV="false">
            <a:off x="508000" y="4445000"/>
            <a:ext cx="5080000" cy="2032000"/>
          </a:xfrm>
          <a:prstGeom prst="roundRect">
            <a:avLst>
              <a:gd name="adj" fmla="val 0"/>
            </a:avLst>
          </a:prstGeom>
          <a:solidFill>
            <a:srgbClr val="F1F5F9">
              <a:alpha val="4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cxnSp>
        <p:nvCxnSpPr>
          <p:cNvPr name="Connector 9" id="9"/>
          <p:cNvCxnSpPr/>
          <p:nvPr/>
        </p:nvCxnSpPr>
        <p:spPr>
          <a:xfrm rot="-5426443" flipH="false" flipV="false">
            <a:off x="190500" y="5391126"/>
            <a:ext cx="1651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cxnSp>
        <p:nvCxnSpPr>
          <p:cNvPr name="Connector 10" id="10"/>
          <p:cNvCxnSpPr/>
          <p:nvPr/>
        </p:nvCxnSpPr>
        <p:spPr>
          <a:xfrm rot="-10110" flipH="false" flipV="false">
            <a:off x="1016009" y="6216650"/>
            <a:ext cx="431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94A3B8">
                <a:alpha val="100000"/>
              </a:srgbClr>
            </a:solidFill>
            <a:prstDash val="solid"/>
            <a:round/>
            <a:headEnd type="none" w="lg" len="lg"/>
            <a:tailEnd type="arrow" w="sm" len="sm"/>
          </a:ln>
        </p:spPr>
      </p:cxnSp>
      <p:sp>
        <p:nvSpPr>
          <p:cNvPr name="AutoShape 11" id="11"/>
          <p:cNvSpPr/>
          <p:nvPr/>
        </p:nvSpPr>
        <p:spPr>
          <a:xfrm rot="0" flipH="false" flipV="false">
            <a:off x="190500" y="45720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日常作业</a:t>
            </a:r>
            <a:endParaRPr lang="en-US" sz="1100"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190500" y="59055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考试阅卷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826000" y="6248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C端个人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1016000" y="6248400"/>
            <a:ext cx="76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B端学校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1651000" y="5715000"/>
            <a:ext cx="152400" cy="152400"/>
          </a:xfrm>
          <a:prstGeom prst="ellipse">
            <a:avLst/>
          </a:prstGeom>
          <a:solidFill>
            <a:srgbClr val="94A3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1841500" y="56642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七天网络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2413000" y="5334000"/>
            <a:ext cx="152400" cy="152400"/>
          </a:xfrm>
          <a:prstGeom prst="ellipse">
            <a:avLst/>
          </a:prstGeom>
          <a:solidFill>
            <a:srgbClr val="94A3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2603500" y="52832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科大讯飞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4318000" y="5588000"/>
            <a:ext cx="152400" cy="152400"/>
          </a:xfrm>
          <a:prstGeom prst="ellipse">
            <a:avLst/>
          </a:prstGeom>
          <a:solidFill>
            <a:srgbClr val="94A3B8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4508500" y="5537200"/>
            <a:ext cx="1016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2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小猿搜题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1651000" y="4889500"/>
            <a:ext cx="203200" cy="203200"/>
          </a:xfrm>
          <a:prstGeom prst="ellipse">
            <a:avLst/>
          </a:prstGeom>
          <a:solidFill>
            <a:srgbClr val="F59E0B">
              <a:alpha val="100000"/>
            </a:srgbClr>
          </a:solidFill>
          <a:ln w="25400" cmpd="sng" cap="flat">
            <a:solidFill>
              <a:srgbClr val="FFFFFF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2" id="22"/>
          <p:cNvSpPr/>
          <p:nvPr/>
        </p:nvSpPr>
        <p:spPr>
          <a:xfrm rot="0" flipH="false" flipV="false">
            <a:off x="1905000" y="4851400"/>
            <a:ext cx="1651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希沃智教π (核心卡位)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5969000" y="4445000"/>
            <a:ext cx="5842000" cy="2032000"/>
          </a:xfrm>
          <a:prstGeom prst="roundRect">
            <a:avLst>
              <a:gd name="adj" fmla="val 0"/>
            </a:avLst>
          </a:prstGeom>
          <a:solidFill>
            <a:srgbClr val="F0FDF4">
              <a:alpha val="50000"/>
            </a:srgbClr>
          </a:solidFill>
          <a:ln w="12700" cmpd="sng" cap="flat">
            <a:solidFill>
              <a:srgbClr val="10B981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159500" y="4572000"/>
            <a:ext cx="5588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错位竞争：锁定“日常作业+B端”蓝海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6159500" y="5016500"/>
            <a:ext cx="5461000" cy="139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4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希沃智教π精准卡位「日常作业+B端学校」的市场空白象限，向上延伸教研管理价值，与竞品形成显著错位。区别于传统考试阅卷工具和C端搜题产品，其聚焦高频刚需的日常作业场景，以“全科批改+教研归因”构建壁垒，有效避开同质化内卷，开辟专属的增量市场赛道。</a:t>
            </a:r>
            <a:endParaRPr lang="en-US" sz="1100"/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3810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技术架构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192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3970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MathPilot 多智能体协作平台：从管道式到Agent化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032000"/>
            <a:ext cx="6350000" cy="914400"/>
          </a:xfrm>
          <a:prstGeom prst="roundRect">
            <a:avLst>
              <a:gd name="adj" fmla="val 0"/>
            </a:avLst>
          </a:prstGeom>
          <a:solidFill>
            <a:srgbClr val="E2E8F0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" y="2133600"/>
            <a:ext cx="609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01 全端接入层 · 多端协同交互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698500" y="2489200"/>
            <a:ext cx="596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教师端Web管理后台 | 学生端智能小程序 | 教研端资源创作平台 | 希沃白板深度插件集成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508000" y="3048000"/>
            <a:ext cx="6350000" cy="14605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12700" cmpd="sng" cap="flat">
            <a:solidFill>
              <a:srgbClr val="10B981">
                <a:alpha val="3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3175000"/>
            <a:ext cx="5969000" cy="3302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" y="3200400"/>
            <a:ext cx="5969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300">
                <a:solidFill>
                  <a:srgbClr val="FFFFFF"/>
                </a:solidFill>
                <a:latin typeface="Noto Sans SC"/>
                <a:ea typeface="Noto Sans SC"/>
                <a:cs typeface="Noto Sans SC"/>
                <a:sym typeface="Noto Sans SC"/>
              </a:rPr>
              <a:t>Teaching Orchestrator 教学智能调度中枢：任务拆解与资源分配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698500" y="36068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🧠 OCR识别Agent • 🧮 数学推理Agent</a:t>
            </a: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🌐 知识图谱Agent • 📚 教学策略Agent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683000" y="3606800"/>
            <a:ext cx="2921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📊 学情诊断Agent • ✍️ 自动讲评Agent</a:t>
            </a: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📝 习题生成Agent • 🤖 课堂助手Agent</a:t>
            </a:r>
            <a:endParaRPr lang="en-US" sz="1100"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508000" y="4610100"/>
            <a:ext cx="6350000" cy="9144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698500" y="4711700"/>
            <a:ext cx="6096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4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03 基础模型层 · 大模型能力底座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698500" y="5067300"/>
            <a:ext cx="5969000" cy="4572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Vision LLM视觉理解模型 | Math LLM数学专用大模型 | Embedding向量化模型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RAG检索增强生成引擎 | 领域知识图谱推理引擎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508000" y="5626100"/>
            <a:ext cx="6350000" cy="787400"/>
          </a:xfrm>
          <a:prstGeom prst="roundRect">
            <a:avLst>
              <a:gd name="adj" fmla="val 0"/>
            </a:avLst>
          </a:prstGeom>
          <a:solidFill>
            <a:srgbClr val="F1F5F9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98500" y="5727700"/>
            <a:ext cx="609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tru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04 数据支撑层：</a:t>
            </a:r>
            <a:r>
              <a:rPr lang="en-US" b="false" i="false" strike="noStrike" u="none" sz="13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PostgreSQL业务数据库 • Redis高速缓存 • 对象存储集群 • Milvus向量数据库 • 希沃千万级题库资源</a:t>
            </a:r>
            <a:endParaRPr lang="en-US" sz="1100"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7175500" y="2032000"/>
            <a:ext cx="4572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7366000" y="2222500"/>
            <a:ext cx="406400" cy="406400"/>
          </a:xfrm>
          <a:prstGeom prst="rect">
            <a:avLst/>
          </a:prstGeom>
        </p:spPr>
      </p:pic>
      <p:sp>
        <p:nvSpPr>
          <p:cNvPr name="AutoShape 22" id="22"/>
          <p:cNvSpPr/>
          <p:nvPr/>
        </p:nvSpPr>
        <p:spPr>
          <a:xfrm rot="0" flipH="false" flipV="false">
            <a:off x="7874000" y="21844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动态调度：按需分配资源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7874000" y="2565400"/>
            <a:ext cx="381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根据题目复杂度智能拆解任务，简单题仅需2步即可完成处理，复杂题型可协同多达5个Agent并行协作，确保效率与精度。</a:t>
            </a:r>
            <a:endParaRPr lang="en-US" sz="1100"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7175500" y="3429000"/>
            <a:ext cx="4572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5" id="25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7366000" y="3619500"/>
            <a:ext cx="406400" cy="406400"/>
          </a:xfrm>
          <a:prstGeom prst="rect">
            <a:avLst/>
          </a:prstGeom>
        </p:spPr>
      </p:pic>
      <p:sp>
        <p:nvSpPr>
          <p:cNvPr name="AutoShape 26" id="26"/>
          <p:cNvSpPr/>
          <p:nvPr/>
        </p:nvSpPr>
        <p:spPr>
          <a:xfrm rot="0" flipH="false" flipV="false">
            <a:off x="7874000" y="35814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自主决策：人机协同兜底</a:t>
            </a:r>
            <a:endParaRPr lang="en-US" sz="1100"/>
          </a:p>
        </p:txBody>
      </p:sp>
      <p:sp>
        <p:nvSpPr>
          <p:cNvPr name="AutoShape 27" id="27"/>
          <p:cNvSpPr/>
          <p:nvPr/>
        </p:nvSpPr>
        <p:spPr>
          <a:xfrm rot="0" flipH="false" flipV="false">
            <a:off x="7874000" y="3962400"/>
            <a:ext cx="381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每个Agent具备独立判断能力并输出置信度，当系统判定结果风险较高时，自动触发人工介入机制，保障教学内容的绝对准确。</a:t>
            </a:r>
            <a:endParaRPr lang="en-US" sz="1100"/>
          </a:p>
        </p:txBody>
      </p:sp>
      <p:sp>
        <p:nvSpPr>
          <p:cNvPr name="AutoShape 28" id="28"/>
          <p:cNvSpPr/>
          <p:nvPr/>
        </p:nvSpPr>
        <p:spPr>
          <a:xfrm rot="0" flipH="false" flipV="false">
            <a:off x="7175500" y="4826000"/>
            <a:ext cx="4572000" cy="114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29" id="29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7366000" y="5016500"/>
            <a:ext cx="406400" cy="406400"/>
          </a:xfrm>
          <a:prstGeom prst="rect">
            <a:avLst/>
          </a:prstGeom>
        </p:spPr>
      </p:pic>
      <p:sp>
        <p:nvSpPr>
          <p:cNvPr name="AutoShape 30" id="30"/>
          <p:cNvSpPr/>
          <p:nvPr/>
        </p:nvSpPr>
        <p:spPr>
          <a:xfrm rot="0" flipH="false" flipV="false">
            <a:off x="7874000" y="4978400"/>
            <a:ext cx="3810000" cy="3048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500">
                <a:solidFill>
                  <a:srgbClr val="0F172A"/>
                </a:solidFill>
                <a:latin typeface="Noto Sans SC"/>
                <a:ea typeface="Noto Sans SC"/>
                <a:cs typeface="Noto Sans SC"/>
                <a:sym typeface="Noto Sans SC"/>
              </a:rPr>
              <a:t>闭环进化：反馈驱动迭代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7874000" y="5359400"/>
            <a:ext cx="3810000" cy="571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教师的批改与反馈数据实时回流至模型训练池，不断优化Agent的推理路径与知识库，形成“应用-反馈-优化”的正向飞轮。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0" y="-635000"/>
            <a:ext cx="2540000" cy="254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1905000" cy="1905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5080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商业规划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1016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3970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SaaS年费制 + 种子学校验证 + 规模化复制</a:t>
            </a:r>
            <a:endParaRPr lang="en-US" sz="1100"/>
          </a:p>
        </p:txBody>
      </p:sp>
      <p:cxnSp>
        <p:nvCxnSpPr>
          <p:cNvPr name="Connector 7" id="7"/>
          <p:cNvCxnSpPr/>
          <p:nvPr/>
        </p:nvCxnSpPr>
        <p:spPr>
          <a:xfrm rot="-3997" flipH="false" flipV="false">
            <a:off x="635004" y="2216150"/>
            <a:ext cx="1092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mpd="sng" cap="flat">
            <a:solidFill>
              <a:srgbClr val="10B981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name="AutoShape 8" id="8"/>
          <p:cNvSpPr/>
          <p:nvPr/>
        </p:nvSpPr>
        <p:spPr>
          <a:xfrm rot="0" flipH="false" flipV="false">
            <a:off x="2057400" y="2120900"/>
            <a:ext cx="203200" cy="203200"/>
          </a:xfrm>
          <a:prstGeom prst="ellipse">
            <a:avLst/>
          </a:prstGeom>
          <a:solidFill>
            <a:srgbClr val="10B981">
              <a:alpha val="100000"/>
            </a:srgbClr>
          </a:solidFill>
          <a:ln cmpd="sng" cap="flat">
            <a:solidFill>
              <a:srgbClr val="00A06B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508000" y="26035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635000" y="2730500"/>
            <a:ext cx="3302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01 种子期（0-6个月）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4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🏁 MVP验证阶段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筛选3-5所种子学校免费合作，深度参与产品迭代，收集真实作业批改数据，重点验证AI批改逻辑与准确率假设，打磨产品闭环。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  <a:spcBef>
                <a:spcPts val="1000"/>
              </a:spcBef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AI批改准确率≥90%，合作校教师周活跃度≥70%，完成产品模型验证。</a:t>
            </a:r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5994400" y="2120900"/>
            <a:ext cx="203200" cy="203200"/>
          </a:xfrm>
          <a:prstGeom prst="ellipse">
            <a:avLst/>
          </a:prstGeom>
          <a:solidFill>
            <a:srgbClr val="3B82F6">
              <a:alpha val="100000"/>
            </a:srgbClr>
          </a:solidFill>
          <a:ln cmpd="sng" cap="flat">
            <a:solidFill>
              <a:srgbClr val="1F67DD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4318000" y="26035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445000" y="2730500"/>
            <a:ext cx="3302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3B82F6"/>
                </a:solidFill>
                <a:latin typeface="Noto Sans SC"/>
                <a:ea typeface="Noto Sans SC"/>
                <a:cs typeface="Noto Sans SC"/>
                <a:sym typeface="Noto Sans SC"/>
              </a:rPr>
              <a:t>02 成长期（6-18个月）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4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🚀 区域规模化复制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推行SaaS年费制，定价10-20万/校/年并按规模阶梯调整；聚焦广东、江浙等教育发达区域，建立区域运营中心，通过标杆校效应快速拓客。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  <a:spcBef>
                <a:spcPts val="1000"/>
              </a:spcBef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累计覆盖500所中小学，实现年度经常性收入（ARR）达5000万，跑通盈利模型。</a:t>
            </a:r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9931400" y="2120900"/>
            <a:ext cx="203200" cy="203200"/>
          </a:xfrm>
          <a:prstGeom prst="ellipse">
            <a:avLst/>
          </a:prstGeom>
          <a:solidFill>
            <a:srgbClr val="F59E0B">
              <a:alpha val="100000"/>
            </a:srgbClr>
          </a:solidFill>
          <a:ln cmpd="sng" cap="flat">
            <a:solidFill>
              <a:srgbClr val="DC8A0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5" id="15"/>
          <p:cNvSpPr/>
          <p:nvPr/>
        </p:nvSpPr>
        <p:spPr>
          <a:xfrm rot="0" flipH="false" flipV="false">
            <a:off x="8128000" y="2603500"/>
            <a:ext cx="3556000" cy="2921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6" id="16"/>
          <p:cNvSpPr/>
          <p:nvPr/>
        </p:nvSpPr>
        <p:spPr>
          <a:xfrm rot="0" flipH="false" flipV="false">
            <a:off x="8255000" y="2730500"/>
            <a:ext cx="3302000" cy="2667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8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03 扩张期（18-36个月）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endParaRPr lang="en-US" sz="1100"/>
          </a:p>
          <a:p>
            <a:pPr algn="l" marL="0" indent="0">
              <a:lnSpc>
                <a:spcPct val="108333"/>
              </a:lnSpc>
              <a:spcBef>
                <a:spcPts val="800"/>
              </a:spcBef>
            </a:pPr>
            <a:r>
              <a:rPr lang="en-US" b="true" i="false" strike="noStrike" u="none" sz="1400">
                <a:solidFill>
                  <a:srgbClr val="F59E0B"/>
                </a:solidFill>
                <a:latin typeface="Noto Sans SC"/>
                <a:ea typeface="Noto Sans SC"/>
                <a:cs typeface="Noto Sans SC"/>
                <a:sym typeface="Noto Sans SC"/>
              </a:rPr>
              <a:t>🌍 全科生态拓展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  <a:spcBef>
                <a:spcPts val="600"/>
              </a:spcBef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从数学单科向物理、化学、英语等全学科延伸，构建K12全科智能批改与学情分析体系；拓展To B+To G双渠道，打造行业绝对壁垒。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</a:p>
          <a:p>
            <a:pPr algn="l" marL="0" indent="0">
              <a:lnSpc>
                <a:spcPct val="116666"/>
              </a:lnSpc>
              <a:spcBef>
                <a:spcPts val="1000"/>
              </a:spcBef>
            </a:pPr>
            <a:r>
              <a:rPr lang="en-US" b="true" i="false" strike="noStrike" u="none" sz="13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🎯 核心目标：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覆盖全国2000+所学校，成为AI作业批改赛道头部企业，建立行业标准。</a:t>
            </a:r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508000" y="5715000"/>
            <a:ext cx="11176000" cy="825500"/>
          </a:xfrm>
          <a:prstGeom prst="roundRect">
            <a:avLst>
              <a:gd name="adj" fmla="val 0"/>
            </a:avLst>
          </a:prstGeom>
          <a:solidFill>
            <a:srgbClr val="10B981">
              <a:alpha val="8000"/>
            </a:srgbClr>
          </a:solidFill>
          <a:ln cmpd="sng" cap="flat">
            <a:solidFill>
              <a:srgbClr val="00A06B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635000" y="5816600"/>
            <a:ext cx="10922000" cy="698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true" i="false" strike="noStrike" u="none" sz="1400">
                <a:solidFill>
                  <a:srgbClr val="059669"/>
                </a:solidFill>
                <a:latin typeface="Noto Sans SC"/>
                <a:ea typeface="Noto Sans SC"/>
                <a:cs typeface="Noto Sans SC"/>
                <a:sym typeface="Noto Sans SC"/>
              </a:rPr>
              <a:t>💡 模式亮点：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采用“SaaS年费+阶梯定价”保障持续收益；种子期以“免费换数据”策略冷启动，既积累了算法优化所需的真实数据，又沉淀了标杆案例，为后续规模化扩张奠定坚实基础。</a:t>
            </a:r>
            <a:endParaRPr lang="en-US" sz="1100"/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bg>
      <p:bgPr>
        <a:solidFill>
          <a:srgbClr val="F8FAFC">
            <a:alpha val="100000"/>
          </a:srgbClr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9525000" y="-1270000"/>
            <a:ext cx="3810000" cy="3810000"/>
          </a:xfrm>
          <a:prstGeom prst="ellipse">
            <a:avLst/>
          </a:prstGeom>
          <a:solidFill>
            <a:srgbClr val="10B981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635000" y="5080000"/>
            <a:ext cx="2540000" cy="2540000"/>
          </a:xfrm>
          <a:prstGeom prst="ellipse">
            <a:avLst/>
          </a:prstGeom>
          <a:solidFill>
            <a:srgbClr val="3B82F6">
              <a:alpha val="5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508000" y="508000"/>
            <a:ext cx="11176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360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产品路线图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508000" y="1270000"/>
            <a:ext cx="762000" cy="50800"/>
          </a:xfrm>
          <a:prstGeom prst="roundRect">
            <a:avLst>
              <a:gd name="adj" fmla="val 0"/>
            </a:avLst>
          </a:prstGeom>
          <a:solidFill>
            <a:srgbClr val="10B981">
              <a:alpha val="10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508000" y="1460500"/>
            <a:ext cx="11176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false" i="false" strike="noStrike" u="none" sz="18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从MVP到全学科智能教学平台</a:t>
            </a:r>
            <a:endParaRPr lang="en-US" sz="1100"/>
          </a:p>
        </p:txBody>
      </p:sp>
      <p:sp>
        <p:nvSpPr>
          <p:cNvPr name="AutoShape 7" id="7"/>
          <p:cNvSpPr/>
          <p:nvPr/>
        </p:nvSpPr>
        <p:spPr>
          <a:xfrm rot="0" flipH="false" flipV="false">
            <a:off x="508000" y="2286000"/>
            <a:ext cx="266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8" id="8"/>
          <p:cNvSpPr/>
          <p:nvPr/>
        </p:nvSpPr>
        <p:spPr>
          <a:xfrm rot="0" flipH="false" flipV="false">
            <a:off x="698500" y="2476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V1.0 MVP（首发）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上线即交付</a:t>
            </a:r>
            <a:endParaRPr lang="en-US" sz="1100"/>
          </a:p>
        </p:txBody>
      </p:sp>
      <p:cxnSp>
        <p:nvCxnSpPr>
          <p:cNvPr name="Connector 9" id="9"/>
          <p:cNvCxnSpPr/>
          <p:nvPr/>
        </p:nvCxnSpPr>
        <p:spPr>
          <a:xfrm rot="-19098" flipH="false" flipV="false">
            <a:off x="698518" y="3168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0" id="10"/>
          <p:cNvSpPr/>
          <p:nvPr/>
        </p:nvSpPr>
        <p:spPr>
          <a:xfrm rot="0" flipH="false" flipV="false">
            <a:off x="698500" y="3302000"/>
            <a:ext cx="2286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数学客观题全自动批改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解答题AI步骤级辅助批改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教师Web端+学生小程序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基础学情分析与错题本</a:t>
            </a:r>
            <a:endParaRPr lang="en-US" sz="1100"/>
          </a:p>
        </p:txBody>
      </p:sp>
      <p:sp>
        <p:nvSpPr>
          <p:cNvPr name="AutoShape 11" id="11"/>
          <p:cNvSpPr/>
          <p:nvPr/>
        </p:nvSpPr>
        <p:spPr>
          <a:xfrm rot="0" flipH="false" flipV="false">
            <a:off x="698500" y="5397500"/>
            <a:ext cx="2286000" cy="406400"/>
          </a:xfrm>
          <a:prstGeom prst="roundRect">
            <a:avLst>
              <a:gd name="adj" fmla="val 0"/>
            </a:avLst>
          </a:prstGeom>
          <a:solidFill>
            <a:srgbClr val="10B981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2" id="12"/>
          <p:cNvSpPr/>
          <p:nvPr/>
        </p:nvSpPr>
        <p:spPr>
          <a:xfrm rot="0" flipH="false" flipV="false">
            <a:off x="698500" y="54356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064E3B"/>
                </a:solidFill>
                <a:latin typeface="Noto Sans SC"/>
                <a:ea typeface="Noto Sans SC"/>
                <a:cs typeface="Noto Sans SC"/>
                <a:sym typeface="Noto Sans SC"/>
              </a:rPr>
              <a:t>P0 核心功能交付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3302000" y="2286000"/>
            <a:ext cx="266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3492500" y="2476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V1.5 教研增强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上线后3个月</a:t>
            </a:r>
            <a:endParaRPr lang="en-US" sz="1100"/>
          </a:p>
        </p:txBody>
      </p:sp>
      <p:cxnSp>
        <p:nvCxnSpPr>
          <p:cNvPr name="Connector 15" id="15"/>
          <p:cNvCxnSpPr/>
          <p:nvPr/>
        </p:nvCxnSpPr>
        <p:spPr>
          <a:xfrm rot="-19098" flipH="false" flipV="false">
            <a:off x="3492518" y="3168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16" id="16"/>
          <p:cNvSpPr/>
          <p:nvPr/>
        </p:nvSpPr>
        <p:spPr>
          <a:xfrm rot="0" flipH="false" flipV="false">
            <a:off x="3492500" y="3302000"/>
            <a:ext cx="2286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教研管理端专属仪表盘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年级/班级学情热力图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变式题推荐与分层推送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教学讲评PPT一键生成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3492500" y="5397500"/>
            <a:ext cx="2286000" cy="406400"/>
          </a:xfrm>
          <a:prstGeom prst="roundRect">
            <a:avLst>
              <a:gd name="adj" fmla="val 0"/>
            </a:avLst>
          </a:prstGeom>
          <a:solidFill>
            <a:srgbClr val="3B82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3492500" y="54356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1E3A8A"/>
                </a:solidFill>
                <a:latin typeface="Noto Sans SC"/>
                <a:ea typeface="Noto Sans SC"/>
                <a:cs typeface="Noto Sans SC"/>
                <a:sym typeface="Noto Sans SC"/>
              </a:rPr>
              <a:t>P1 教研效能升级</a:t>
            </a:r>
            <a:endParaRPr lang="en-US" sz="1100"/>
          </a:p>
        </p:txBody>
      </p:sp>
      <p:sp>
        <p:nvSpPr>
          <p:cNvPr name="AutoShape 19" id="19"/>
          <p:cNvSpPr/>
          <p:nvPr/>
        </p:nvSpPr>
        <p:spPr>
          <a:xfrm rot="0" flipH="false" flipV="false">
            <a:off x="6096000" y="2286000"/>
            <a:ext cx="266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0" id="20"/>
          <p:cNvSpPr/>
          <p:nvPr/>
        </p:nvSpPr>
        <p:spPr>
          <a:xfrm rot="0" flipH="false" flipV="false">
            <a:off x="6286500" y="2476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V2.0 学生体验升级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上线后6个月</a:t>
            </a:r>
            <a:endParaRPr lang="en-US" sz="1100"/>
          </a:p>
        </p:txBody>
      </p:sp>
      <p:cxnSp>
        <p:nvCxnSpPr>
          <p:cNvPr name="Connector 21" id="21"/>
          <p:cNvCxnSpPr/>
          <p:nvPr/>
        </p:nvCxnSpPr>
        <p:spPr>
          <a:xfrm rot="-19098" flipH="false" flipV="false">
            <a:off x="6286518" y="3168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2" id="22"/>
          <p:cNvSpPr/>
          <p:nvPr/>
        </p:nvSpPr>
        <p:spPr>
          <a:xfrm rot="0" flipH="false" flipV="false">
            <a:off x="6286500" y="3302000"/>
            <a:ext cx="2286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Math Coach苏格拉底辅导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知识点关联知识树可视化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个性化成长报告与预测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作业订正闭环强化机制</a:t>
            </a:r>
            <a:endParaRPr lang="en-US" sz="1100"/>
          </a:p>
        </p:txBody>
      </p:sp>
      <p:sp>
        <p:nvSpPr>
          <p:cNvPr name="AutoShape 23" id="23"/>
          <p:cNvSpPr/>
          <p:nvPr/>
        </p:nvSpPr>
        <p:spPr>
          <a:xfrm rot="0" flipH="false" flipV="false">
            <a:off x="6286500" y="5397500"/>
            <a:ext cx="2286000" cy="406400"/>
          </a:xfrm>
          <a:prstGeom prst="roundRect">
            <a:avLst>
              <a:gd name="adj" fmla="val 0"/>
            </a:avLst>
          </a:prstGeom>
          <a:solidFill>
            <a:srgbClr val="F59E0B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4" id="24"/>
          <p:cNvSpPr/>
          <p:nvPr/>
        </p:nvSpPr>
        <p:spPr>
          <a:xfrm rot="0" flipH="false" flipV="false">
            <a:off x="6286500" y="54356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78350F"/>
                </a:solidFill>
                <a:latin typeface="Noto Sans SC"/>
                <a:ea typeface="Noto Sans SC"/>
                <a:cs typeface="Noto Sans SC"/>
                <a:sym typeface="Noto Sans SC"/>
              </a:rPr>
              <a:t>学生端体验创新</a:t>
            </a:r>
            <a:endParaRPr lang="en-US" sz="1100"/>
          </a:p>
        </p:txBody>
      </p:sp>
      <p:sp>
        <p:nvSpPr>
          <p:cNvPr name="AutoShape 25" id="25"/>
          <p:cNvSpPr/>
          <p:nvPr/>
        </p:nvSpPr>
        <p:spPr>
          <a:xfrm rot="0" flipH="false" flipV="false">
            <a:off x="8890000" y="2286000"/>
            <a:ext cx="2667000" cy="3683000"/>
          </a:xfrm>
          <a:prstGeom prst="roundRect">
            <a:avLst>
              <a:gd name="adj" fmla="val 0"/>
            </a:avLst>
          </a:prstGeom>
          <a:solidFill>
            <a:srgbClr val="FFFFFF">
              <a:alpha val="100000"/>
            </a:srgbClr>
          </a:solidFill>
          <a:ln w="12700" cmpd="sng" cap="flat">
            <a:solidFill>
              <a:srgbClr val="E2E8F0">
                <a:alpha val="10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26" id="26"/>
          <p:cNvSpPr/>
          <p:nvPr/>
        </p:nvSpPr>
        <p:spPr>
          <a:xfrm rot="0" flipH="false" flipV="false">
            <a:off x="9080500" y="2476500"/>
            <a:ext cx="2286000" cy="635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0000"/>
              </a:lnSpc>
              <a:defRPr/>
            </a:pPr>
            <a:r>
              <a:rPr lang="en-US" b="true" i="false" strike="noStrike" u="none" sz="160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V3.0 全科与生态</a:t>
            </a:r>
            <a: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60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2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上线后12个月</a:t>
            </a:r>
            <a:endParaRPr lang="en-US" sz="1100"/>
          </a:p>
        </p:txBody>
      </p:sp>
      <p:cxnSp>
        <p:nvCxnSpPr>
          <p:cNvPr name="Connector 27" id="27"/>
          <p:cNvCxnSpPr/>
          <p:nvPr/>
        </p:nvCxnSpPr>
        <p:spPr>
          <a:xfrm rot="-19098" flipH="false" flipV="false">
            <a:off x="9080518" y="3168650"/>
            <a:ext cx="2286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F1F5F9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8" id="28"/>
          <p:cNvSpPr/>
          <p:nvPr/>
        </p:nvSpPr>
        <p:spPr>
          <a:xfrm rot="0" flipH="false" flipV="false">
            <a:off x="9080500" y="3302000"/>
            <a:ext cx="2286000" cy="1714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16666"/>
              </a:lnSpc>
              <a:defRPr/>
            </a:pP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物理/化学/英语学科拓展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希沃白板深度功能联动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课堂互动行为实时分析</a:t>
            </a: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/>
            </a:r>
            <a:b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b="false" i="false" strike="noStrike" u="none" sz="13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• 区域/跨校数据对标分析</a:t>
            </a:r>
            <a:endParaRPr lang="en-US" sz="1100"/>
          </a:p>
        </p:txBody>
      </p:sp>
      <p:sp>
        <p:nvSpPr>
          <p:cNvPr name="AutoShape 29" id="29"/>
          <p:cNvSpPr/>
          <p:nvPr/>
        </p:nvSpPr>
        <p:spPr>
          <a:xfrm rot="0" flipH="false" flipV="false">
            <a:off x="9080500" y="5397500"/>
            <a:ext cx="2286000" cy="406400"/>
          </a:xfrm>
          <a:prstGeom prst="roundRect">
            <a:avLst>
              <a:gd name="adj" fmla="val 0"/>
            </a:avLst>
          </a:prstGeom>
          <a:solidFill>
            <a:srgbClr val="8B5CF6">
              <a:alpha val="10000"/>
            </a:srgbClr>
          </a:solidFill>
          <a:ln w="25400" cmpd="sng" cap="flat">
            <a:noFill/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0" id="30"/>
          <p:cNvSpPr/>
          <p:nvPr/>
        </p:nvSpPr>
        <p:spPr>
          <a:xfrm rot="0" flipH="false" flipV="false">
            <a:off x="9080500" y="5435600"/>
            <a:ext cx="2286000" cy="4064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1200">
                <a:solidFill>
                  <a:srgbClr val="4C1D95"/>
                </a:solidFill>
                <a:latin typeface="Noto Sans SC"/>
                <a:ea typeface="Noto Sans SC"/>
                <a:cs typeface="Noto Sans SC"/>
                <a:sym typeface="Noto Sans SC"/>
              </a:rPr>
              <a:t>长期生态布局规划</a:t>
            </a:r>
            <a:endParaRPr lang="en-US" sz="1100"/>
          </a:p>
        </p:txBody>
      </p:sp>
      <p:sp>
        <p:nvSpPr>
          <p:cNvPr name="AutoShape 31" id="31"/>
          <p:cNvSpPr/>
          <p:nvPr/>
        </p:nvSpPr>
        <p:spPr>
          <a:xfrm rot="0" flipH="false" flipV="false">
            <a:off x="508000" y="6223000"/>
            <a:ext cx="11176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以用户需求为导向，通过四个阶段的持续迭代，逐步构建全场景覆盖、多端协同的智能教学生态闭环。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F8FAFC">
                <a:alpha val="100000"/>
              </a:srgbClr>
            </a:gs>
            <a:gs pos="100000">
              <a:srgbClr val="F1F5F9">
                <a:alpha val="100000"/>
              </a:srgbClr>
            </a:gs>
          </a:gsLst>
          <a:lin ang="27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 rot="0" flipH="false" flipV="false">
            <a:off x="10160000" y="-762000"/>
            <a:ext cx="2794000" cy="2794000"/>
          </a:xfrm>
          <a:prstGeom prst="ellipse">
            <a:avLst/>
          </a:prstGeom>
          <a:solidFill>
            <a:srgbClr val="14B8A6">
              <a:alpha val="8000"/>
            </a:srgbClr>
          </a:solidFill>
          <a:ln cmpd="sng" cap="flat">
            <a:solidFill>
              <a:srgbClr val="019F8D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3" id="3"/>
          <p:cNvSpPr/>
          <p:nvPr/>
        </p:nvSpPr>
        <p:spPr>
          <a:xfrm rot="0" flipH="false" flipV="false">
            <a:off x="-762000" y="5080000"/>
            <a:ext cx="2286000" cy="2286000"/>
          </a:xfrm>
          <a:prstGeom prst="ellipse">
            <a:avLst/>
          </a:prstGeom>
          <a:solidFill>
            <a:srgbClr val="14B8A6">
              <a:alpha val="8000"/>
            </a:srgbClr>
          </a:solidFill>
          <a:ln cmpd="sng" cap="flat">
            <a:solidFill>
              <a:srgbClr val="019F8D">
                <a:alpha val="8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sp>
        <p:nvSpPr>
          <p:cNvPr name="AutoShape 4" id="4"/>
          <p:cNvSpPr/>
          <p:nvPr/>
        </p:nvSpPr>
        <p:spPr>
          <a:xfrm rot="0" flipH="false" flipV="false">
            <a:off x="0" y="762000"/>
            <a:ext cx="12192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4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种子学校招募中</a:t>
            </a:r>
            <a:endParaRPr lang="en-US" sz="1100"/>
          </a:p>
        </p:txBody>
      </p:sp>
      <p:sp>
        <p:nvSpPr>
          <p:cNvPr name="AutoShape 5" id="5"/>
          <p:cNvSpPr/>
          <p:nvPr/>
        </p:nvSpPr>
        <p:spPr>
          <a:xfrm rot="0" flipH="false" flipV="false">
            <a:off x="0" y="1778000"/>
            <a:ext cx="12192000" cy="508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22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欢迎成为希沃智教π首批合作伙伴</a:t>
            </a:r>
            <a:endParaRPr lang="en-US" sz="1100"/>
          </a:p>
        </p:txBody>
      </p:sp>
      <p:sp>
        <p:nvSpPr>
          <p:cNvPr name="AutoShape 6" id="6"/>
          <p:cNvSpPr/>
          <p:nvPr/>
        </p:nvSpPr>
        <p:spPr>
          <a:xfrm rot="0" flipH="false" flipV="false">
            <a:off x="762000" y="2667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14B8A6">
              <a:alpha val="6000"/>
            </a:srgbClr>
          </a:solidFill>
          <a:ln w="12700" cmpd="sng" cap="flat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0" flipH="false" flipV="false">
            <a:off x="1016000" y="2857500"/>
            <a:ext cx="406400" cy="406400"/>
          </a:xfrm>
          <a:prstGeom prst="rect">
            <a:avLst/>
          </a:prstGeom>
        </p:spPr>
      </p:pic>
      <p:sp>
        <p:nvSpPr>
          <p:cNvPr name="AutoShape 8" id="8"/>
          <p:cNvSpPr/>
          <p:nvPr/>
        </p:nvSpPr>
        <p:spPr>
          <a:xfrm rot="0" flipH="false" flipV="false">
            <a:off x="1524000" y="28702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免费权益支持</a:t>
            </a:r>
            <a:endParaRPr lang="en-US" sz="1100"/>
          </a:p>
        </p:txBody>
      </p:sp>
      <p:sp>
        <p:nvSpPr>
          <p:cNvPr name="AutoShape 9" id="9"/>
          <p:cNvSpPr/>
          <p:nvPr/>
        </p:nvSpPr>
        <p:spPr>
          <a:xfrm rot="0" flipH="false" flipV="false">
            <a:off x="1016000" y="3365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全功能免费开放1学年，无需额外硬件投入，即可落地体验智慧教学全流程闭环，大幅降低准入门槛。</a:t>
            </a:r>
            <a:endParaRPr lang="en-US" sz="1100"/>
          </a:p>
        </p:txBody>
      </p:sp>
      <p:sp>
        <p:nvSpPr>
          <p:cNvPr name="AutoShape 10" id="10"/>
          <p:cNvSpPr/>
          <p:nvPr/>
        </p:nvSpPr>
        <p:spPr>
          <a:xfrm rot="0" flipH="false" flipV="false">
            <a:off x="4381500" y="2667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14B8A6">
              <a:alpha val="6000"/>
            </a:srgbClr>
          </a:solidFill>
          <a:ln w="12700" cmpd="sng" cap="flat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0" flipH="false" flipV="false">
            <a:off x="4635500" y="2857500"/>
            <a:ext cx="406400" cy="406400"/>
          </a:xfrm>
          <a:prstGeom prst="rect">
            <a:avLst/>
          </a:prstGeom>
        </p:spPr>
      </p:pic>
      <p:sp>
        <p:nvSpPr>
          <p:cNvPr name="AutoShape 12" id="12"/>
          <p:cNvSpPr/>
          <p:nvPr/>
        </p:nvSpPr>
        <p:spPr>
          <a:xfrm rot="0" flipH="false" flipV="false">
            <a:off x="5143500" y="28702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深度驻校共创</a:t>
            </a:r>
            <a:endParaRPr lang="en-US" sz="1100"/>
          </a:p>
        </p:txBody>
      </p:sp>
      <p:sp>
        <p:nvSpPr>
          <p:cNvPr name="AutoShape 13" id="13"/>
          <p:cNvSpPr/>
          <p:nvPr/>
        </p:nvSpPr>
        <p:spPr>
          <a:xfrm rot="0" flipH="false" flipV="false">
            <a:off x="4635500" y="3365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产品团队驻校实地支持，需求优先响应与快速迭代，基于真实课堂场景共同打磨功能，打造贴合一线的解决方案。</a:t>
            </a:r>
            <a:endParaRPr lang="en-US" sz="1100"/>
          </a:p>
        </p:txBody>
      </p:sp>
      <p:sp>
        <p:nvSpPr>
          <p:cNvPr name="AutoShape 14" id="14"/>
          <p:cNvSpPr/>
          <p:nvPr/>
        </p:nvSpPr>
        <p:spPr>
          <a:xfrm rot="0" flipH="false" flipV="false">
            <a:off x="8001000" y="2667000"/>
            <a:ext cx="3429000" cy="1841500"/>
          </a:xfrm>
          <a:prstGeom prst="roundRect">
            <a:avLst>
              <a:gd name="adj" fmla="val 0"/>
            </a:avLst>
          </a:prstGeom>
          <a:solidFill>
            <a:srgbClr val="14B8A6">
              <a:alpha val="6000"/>
            </a:srgbClr>
          </a:solidFill>
          <a:ln w="12700" cmpd="sng" cap="flat">
            <a:solidFill>
              <a:srgbClr val="14B8A6">
                <a:alpha val="20000"/>
              </a:srgbClr>
            </a:solidFill>
            <a:prstDash val="solid"/>
            <a:round/>
          </a:ln>
        </p:spPr>
        <p:txBody>
          <a:bodyPr anchor="ctr" rtlCol="false" vert="horz" wrap="square" lIns="63500" rIns="63500" tIns="63500" bIns="63500"/>
          <a:lstStyle/>
          <a:p>
            <a:pPr algn="ctr">
              <a:defRPr/>
            </a:pPr>
            <a:endParaRPr/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rot="0" flipH="false" flipV="false">
            <a:off x="8255000" y="2857500"/>
            <a:ext cx="406400" cy="406400"/>
          </a:xfrm>
          <a:prstGeom prst="rect">
            <a:avLst/>
          </a:prstGeom>
        </p:spPr>
      </p:pic>
      <p:sp>
        <p:nvSpPr>
          <p:cNvPr name="AutoShape 16" id="16"/>
          <p:cNvSpPr/>
          <p:nvPr/>
        </p:nvSpPr>
        <p:spPr>
          <a:xfrm rot="0" flipH="false" flipV="false">
            <a:off x="8763000" y="2870200"/>
            <a:ext cx="2540000" cy="381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25000"/>
              </a:lnSpc>
              <a:defRPr/>
            </a:pPr>
            <a:r>
              <a:rPr lang="en-US" b="true" i="false" strike="noStrike" u="none" sz="1800">
                <a:solidFill>
                  <a:srgbClr val="334155"/>
                </a:solidFill>
                <a:latin typeface="Noto Sans SC"/>
                <a:ea typeface="Noto Sans SC"/>
                <a:cs typeface="Noto Sans SC"/>
                <a:sym typeface="Noto Sans SC"/>
              </a:rPr>
              <a:t>标杆案例打造</a:t>
            </a:r>
            <a:endParaRPr lang="en-US" sz="1100"/>
          </a:p>
        </p:txBody>
      </p:sp>
      <p:sp>
        <p:nvSpPr>
          <p:cNvPr name="AutoShape 17" id="17"/>
          <p:cNvSpPr/>
          <p:nvPr/>
        </p:nvSpPr>
        <p:spPr>
          <a:xfrm rot="0" flipH="false" flipV="false">
            <a:off x="8255000" y="3365500"/>
            <a:ext cx="2921000" cy="1016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l" marL="0" indent="0">
              <a:lnSpc>
                <a:spcPct val="108333"/>
              </a:lnSpc>
              <a:defRPr/>
            </a:pPr>
            <a:r>
              <a:rPr lang="en-US" b="false" i="false" strike="noStrike" u="none" sz="1400">
                <a:solidFill>
                  <a:srgbClr val="64748B"/>
                </a:solidFill>
                <a:latin typeface="Noto Sans SC"/>
                <a:ea typeface="Noto Sans SC"/>
                <a:cs typeface="Noto Sans SC"/>
                <a:sym typeface="Noto Sans SC"/>
              </a:rPr>
              <a:t>联合发布教学成果报告，打造区域智慧教育示范标杆，获得官方品牌宣传资源与行业媒体曝光，提升学校影响力。</a:t>
            </a:r>
            <a:endParaRPr lang="en-US" sz="1100"/>
          </a:p>
        </p:txBody>
      </p:sp>
      <p:sp>
        <p:nvSpPr>
          <p:cNvPr name="AutoShape 18" id="18"/>
          <p:cNvSpPr/>
          <p:nvPr/>
        </p:nvSpPr>
        <p:spPr>
          <a:xfrm rot="0" flipH="false" flipV="false">
            <a:off x="0" y="4826000"/>
            <a:ext cx="12192000" cy="762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true" i="false" strike="noStrike" u="none" sz="2800">
                <a:solidFill>
                  <a:srgbClr val="14B8A6"/>
                </a:solidFill>
                <a:latin typeface="Noto Sans SC"/>
                <a:ea typeface="Noto Sans SC"/>
                <a:cs typeface="Noto Sans SC"/>
                <a:sym typeface="Noto Sans SC"/>
              </a:rPr>
              <a:t>“每个学生都被认真对待”</a:t>
            </a:r>
            <a:endParaRPr lang="en-US" sz="1100"/>
          </a:p>
        </p:txBody>
      </p:sp>
      <p:cxnSp>
        <p:nvCxnSpPr>
          <p:cNvPr name="Connector 19" id="19"/>
          <p:cNvCxnSpPr/>
          <p:nvPr/>
        </p:nvCxnSpPr>
        <p:spPr>
          <a:xfrm rot="-4092" flipH="false" flipV="false">
            <a:off x="762004" y="5645150"/>
            <a:ext cx="10668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mpd="sng" cap="flat">
            <a:solidFill>
              <a:srgbClr val="94A3B8">
                <a:alpha val="3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name="AutoShape 20" id="20"/>
          <p:cNvSpPr/>
          <p:nvPr/>
        </p:nvSpPr>
        <p:spPr>
          <a:xfrm rot="0" flipH="false" flipV="false">
            <a:off x="0" y="5778500"/>
            <a:ext cx="12192000" cy="3175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在线Demo体验</a:t>
            </a: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产品白皮书下载</a:t>
            </a: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|</a:t>
            </a:r>
            <a:r>
              <a:rPr lang="en-US" b="false" i="false" strike="noStrike" u="none" sz="1400">
                <a:solidFill>
                  <a:srgbClr val="475569"/>
                </a:solidFill>
                <a:latin typeface="Noto Sans SC"/>
                <a:ea typeface="Noto Sans SC"/>
                <a:cs typeface="Noto Sans SC"/>
                <a:sym typeface="Noto Sans SC"/>
              </a:rPr>
              <a:t>商务合作咨询通道</a:t>
            </a:r>
            <a:endParaRPr lang="en-US" sz="1100"/>
          </a:p>
        </p:txBody>
      </p:sp>
      <p:sp>
        <p:nvSpPr>
          <p:cNvPr name="AutoShape 21" id="21"/>
          <p:cNvSpPr/>
          <p:nvPr/>
        </p:nvSpPr>
        <p:spPr>
          <a:xfrm rot="0" flipH="false" flipV="false">
            <a:off x="0" y="6159500"/>
            <a:ext cx="12192000" cy="254000"/>
          </a:xfrm>
          <a:prstGeom prst="rect">
            <a:avLst/>
          </a:prstGeom>
          <a:noFill/>
          <a:ln w="12700" cmpd="sng" cap="flat">
            <a:noFill/>
            <a:prstDash val="solid"/>
            <a:round/>
          </a:ln>
        </p:spPr>
        <p:txBody>
          <a:bodyPr anchor="ctr" rtlCol="false" anchorCtr="false" vert="horz" wrap="square" lIns="0" rIns="0" tIns="0" bIns="0"/>
          <a:lstStyle/>
          <a:p>
            <a:pPr algn="ctr" marL="0" indent="0">
              <a:lnSpc>
                <a:spcPct val="125000"/>
              </a:lnSpc>
              <a:defRPr/>
            </a:pPr>
            <a:r>
              <a:rPr lang="en-US" b="false" i="false" strike="noStrike" u="none" sz="1400">
                <a:solidFill>
                  <a:srgbClr val="94A3B8"/>
                </a:solidFill>
                <a:latin typeface="Noto Sans SC"/>
                <a:ea typeface="Noto Sans SC"/>
                <a:cs typeface="Noto Sans SC"/>
                <a:sym typeface="Noto Sans SC"/>
              </a:rPr>
              <a:t>Seewo AI Grading Pi · 希沃智慧教育</a:t>
            </a:r>
            <a:endParaRPr lang="en-US" sz="1100"/>
          </a:p>
        </p:txBody>
      </p:sp>
      <p:pic>
        <p:nvPicPr>
          <p:cNvPr name="Picture 22" id="22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IGC">
    <vt:lpwstr>{"Label":"1","ContentProducer":"001191110102MACQD9K64010000","ProduceID":"7663699791126301916","ReservedCode1":"","ContentPropagator":"","PropagateID":"","ReservedCode2":""}</vt:lpwstr>
  </property>
</Properties>
</file>